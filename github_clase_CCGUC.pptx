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7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5765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691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0" y="457200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188720"/>
            <a:ext cx="320040" cy="320040"/>
          </a:xfrm>
          <a:prstGeom prst="ellipse">
            <a:avLst/>
          </a:prstGeom>
          <a:solidFill>
            <a:srgbClr val="F9A94B"/>
          </a:solidFill>
          <a:ln w="12700">
            <a:solidFill>
              <a:srgbClr val="F9A9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920240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005840"/>
            <a:ext cx="2011680" cy="347472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TALLER PRÁCTICO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50876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Equipos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411480" y="3337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BB0"/>
                </a:solidFill>
              </a:rPr>
              <a:t>Control de versiones sin miedo · colaboración real · flujo de trabajo moderno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53E5C"/>
          </a:solidFill>
          <a:ln/>
        </p:spPr>
      </p:sp>
      <p:sp>
        <p:nvSpPr>
          <p:cNvPr id="13" name="Text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git init · git commit · git push · pull request · merge · colaborar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¿Por qué existe GitHub?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Text 3"/>
          <p:cNvSpPr/>
          <p:nvPr/>
        </p:nvSpPr>
        <p:spPr>
          <a:xfrm>
            <a:off x="365759" y="1051560"/>
            <a:ext cx="8578215" cy="3882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4000" dirty="0">
                <a:latin typeface="+mj-lt"/>
              </a:rPr>
              <a:t>Google </a:t>
            </a:r>
            <a:r>
              <a:rPr lang="es-ES" sz="4000" dirty="0" err="1">
                <a:latin typeface="+mj-lt"/>
              </a:rPr>
              <a:t>Docs</a:t>
            </a:r>
            <a:r>
              <a:rPr lang="es-ES" sz="4000" dirty="0">
                <a:latin typeface="+mj-lt"/>
              </a:rPr>
              <a:t> resuelve la colaboración en documentos, Excel, y </a:t>
            </a:r>
            <a:r>
              <a:rPr lang="es-ES" sz="4000" dirty="0" err="1">
                <a:latin typeface="+mj-lt"/>
              </a:rPr>
              <a:t>ppt</a:t>
            </a:r>
            <a:r>
              <a:rPr lang="es-ES" sz="4000" dirty="0">
                <a:latin typeface="+mj-lt"/>
              </a:rPr>
              <a:t>.</a:t>
            </a:r>
            <a:br>
              <a:rPr lang="es-ES" sz="4000" dirty="0">
                <a:latin typeface="+mj-lt"/>
              </a:rPr>
            </a:br>
            <a:r>
              <a:rPr lang="es-ES" sz="4000" dirty="0">
                <a:latin typeface="+mj-lt"/>
              </a:rPr>
              <a:t>Pero en programación, con cientos de </a:t>
            </a:r>
            <a:r>
              <a:rPr lang="es-ES" sz="4000" i="1" dirty="0">
                <a:latin typeface="+mj-lt"/>
              </a:rPr>
              <a:t>scripts</a:t>
            </a:r>
            <a:r>
              <a:rPr lang="es-ES" sz="4000" dirty="0">
                <a:latin typeface="+mj-lt"/>
              </a:rPr>
              <a:t>, hay otra pregunta clave: </a:t>
            </a:r>
            <a:r>
              <a:rPr lang="es-ES" sz="4000" b="1" dirty="0">
                <a:latin typeface="+mj-lt"/>
              </a:rPr>
              <a:t>¿cómo controlamos las versiones?</a:t>
            </a:r>
            <a:endParaRPr lang="en-US" sz="4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31133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¿Por qué existe GitHub?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El caos sin control de versiones: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50876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informe_final.docx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2039112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informe_final_v2.docx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69464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56946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informe_FINAL_este_si.docx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99816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309981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informe_final_CORREGIDO_juan.docx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630168"/>
            <a:ext cx="3931920" cy="438912"/>
          </a:xfrm>
          <a:prstGeom prst="rect">
            <a:avLst/>
          </a:prstGeom>
          <a:solidFill>
            <a:srgbClr val="F9A94B"/>
          </a:solidFill>
          <a:ln w="12700">
            <a:solidFill>
              <a:srgbClr val="F482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" y="3630168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informe_DEFINITIVO_2024.docx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Con GitHub: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508760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🕓  Historial completo de cada cambio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039112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54880" y="2039112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👥  Varias personas editan en paralelo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2569464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2569464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↩️  Volver a cualquier versión anterior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3099816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3099816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💬  Revisar y aprobar cambios del equipo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630168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3630168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🌐  Disponible desde cualquier lugar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34840" y="1188720"/>
            <a:ext cx="0" cy="3474720"/>
          </a:xfrm>
          <a:prstGeom prst="line">
            <a:avLst/>
          </a:prstGeom>
          <a:noFill/>
          <a:ln w="12700">
            <a:solidFill>
              <a:srgbClr val="D5DDE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920240" y="4617720"/>
            <a:ext cx="347472" cy="347472"/>
          </a:xfrm>
          <a:prstGeom prst="ellipse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20240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X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92240" y="4617720"/>
            <a:ext cx="347472" cy="3474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4 conceptos que necesitás entender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972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9728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123444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2344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REPO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280160" y="1207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Repositorio (repo)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Es el proyecto. Una carpeta inteligente que guarda todos tus archivos Y todo su historial de cambios.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9728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09728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30368" y="123444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2344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SAVE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669280" y="1207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Commit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166420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Un "punto de guardado" con descripción. Cada commit registra qué cambió, quién lo cambió y cuándo.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01752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01752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41248" y="315468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315468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BRANCH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280160" y="3127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Branch (rama)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358444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Una copia paralela donde podés experimentar sin afectar el trabajo de los demás. Después se fusiona (merge).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30175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01752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301752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230368" y="315468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0368" y="315468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PR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669280" y="3127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Pull Request (PR)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212080" y="358444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Pedís que tus cambios se incorporen al trabajo principal. Todos pueden revisar y comentar antes de aceptar.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El flujo de </a:t>
            </a:r>
            <a:r>
              <a:rPr lang="en-US" sz="2600" b="1" dirty="0" err="1">
                <a:solidFill>
                  <a:srgbClr val="FFFFFF"/>
                </a:solidFill>
              </a:rPr>
              <a:t>trabajo</a:t>
            </a:r>
            <a:r>
              <a:rPr lang="en-US" sz="2600" b="1" dirty="0">
                <a:solidFill>
                  <a:srgbClr val="FFFFFF"/>
                </a:solidFill>
              </a:rPr>
              <a:t> que </a:t>
            </a:r>
            <a:r>
              <a:rPr lang="en-US" sz="2600" b="1" dirty="0" err="1">
                <a:solidFill>
                  <a:srgbClr val="FFFFFF"/>
                </a:solidFill>
              </a:rPr>
              <a:t>estudiaremos</a:t>
            </a:r>
            <a:r>
              <a:rPr lang="en-US" sz="2600" b="1" dirty="0">
                <a:solidFill>
                  <a:srgbClr val="FFFFFF"/>
                </a:solidFill>
              </a:rPr>
              <a:t> en 5 pasos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Clone / Pull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5DDE8"/>
                </a:solidFill>
              </a:rPr>
              <a:t>PASO 0: </a:t>
            </a:r>
            <a:r>
              <a:rPr lang="en-US" sz="1000" dirty="0" err="1">
                <a:solidFill>
                  <a:srgbClr val="D5DDE8"/>
                </a:solidFill>
              </a:rPr>
              <a:t>Descargamos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el</a:t>
            </a:r>
            <a:r>
              <a:rPr lang="en-US" sz="1000" dirty="0">
                <a:solidFill>
                  <a:srgbClr val="D5DDE8"/>
                </a:solidFill>
              </a:rPr>
              <a:t> Proyecto </a:t>
            </a:r>
            <a:r>
              <a:rPr lang="en-US" sz="1000" dirty="0" err="1">
                <a:solidFill>
                  <a:srgbClr val="D5DDE8"/>
                </a:solidFill>
              </a:rPr>
              <a:t>desde</a:t>
            </a:r>
            <a:r>
              <a:rPr lang="en-US" sz="1000" dirty="0">
                <a:solidFill>
                  <a:srgbClr val="D5DDE8"/>
                </a:solidFill>
              </a:rPr>
              <a:t> GitHub a </a:t>
            </a:r>
            <a:r>
              <a:rPr lang="en-US" sz="1000" dirty="0" err="1">
                <a:solidFill>
                  <a:srgbClr val="D5DDE8"/>
                </a:solidFill>
              </a:rPr>
              <a:t>nuestro</a:t>
            </a:r>
            <a:r>
              <a:rPr lang="en-US" sz="1000" dirty="0">
                <a:solidFill>
                  <a:srgbClr val="D5DDE8"/>
                </a:solidFill>
              </a:rPr>
              <a:t> PC (local)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92808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56816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48256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Branch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48256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5DDE8"/>
                </a:solidFill>
              </a:rPr>
              <a:t>Para </a:t>
            </a:r>
            <a:r>
              <a:rPr lang="en-US" sz="1000" dirty="0" err="1">
                <a:solidFill>
                  <a:srgbClr val="D5DDE8"/>
                </a:solidFill>
              </a:rPr>
              <a:t>crear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nuestra</a:t>
            </a:r>
            <a:r>
              <a:rPr lang="en-US" sz="1000" dirty="0">
                <a:solidFill>
                  <a:srgbClr val="D5DDE8"/>
                </a:solidFill>
              </a:rPr>
              <a:t> propia rama para trabajar sin molestar a </a:t>
            </a:r>
            <a:r>
              <a:rPr lang="en-US" sz="1000" dirty="0" err="1">
                <a:solidFill>
                  <a:srgbClr val="D5DDE8"/>
                </a:solidFill>
              </a:rPr>
              <a:t>nadie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más</a:t>
            </a:r>
            <a:r>
              <a:rPr lang="en-US" sz="1000" dirty="0">
                <a:solidFill>
                  <a:srgbClr val="D5DDE8"/>
                </a:solidFill>
              </a:rPr>
              <a:t> (</a:t>
            </a:r>
            <a:r>
              <a:rPr lang="en-US" sz="1000" dirty="0" err="1">
                <a:solidFill>
                  <a:srgbClr val="D5DDE8"/>
                </a:solidFill>
              </a:rPr>
              <a:t>jijiji</a:t>
            </a:r>
            <a:r>
              <a:rPr lang="en-US" sz="1000" dirty="0">
                <a:solidFill>
                  <a:srgbClr val="D5DDE8"/>
                </a:solidFill>
              </a:rPr>
              <a:t>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48256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48256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mi-feature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29584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93592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51376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51376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85032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Commit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85032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D5DDE8"/>
                </a:solidFill>
              </a:rPr>
              <a:t>Guardas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tus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cambios</a:t>
            </a:r>
            <a:r>
              <a:rPr lang="en-US" sz="1000" dirty="0">
                <a:solidFill>
                  <a:srgbClr val="D5DDE8"/>
                </a:solidFill>
              </a:rPr>
              <a:t> de forma local con un </a:t>
            </a:r>
            <a:r>
              <a:rPr lang="en-US" sz="1000" dirty="0" err="1">
                <a:solidFill>
                  <a:srgbClr val="D5DDE8"/>
                </a:solidFill>
              </a:rPr>
              <a:t>mensaje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descriptivo</a:t>
            </a:r>
            <a:r>
              <a:rPr lang="en-US" sz="1000" dirty="0">
                <a:solidFill>
                  <a:srgbClr val="D5DDE8"/>
                </a:solidFill>
              </a:rPr>
              <a:t> (</a:t>
            </a:r>
            <a:r>
              <a:rPr lang="en-US" sz="1000" dirty="0" err="1">
                <a:solidFill>
                  <a:srgbClr val="D5DDE8"/>
                </a:solidFill>
              </a:rPr>
              <a:t>en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caso</a:t>
            </a:r>
            <a:r>
              <a:rPr lang="en-US" sz="1000" dirty="0">
                <a:solidFill>
                  <a:srgbClr val="D5DDE8"/>
                </a:solidFill>
              </a:rPr>
              <a:t> de que se </a:t>
            </a:r>
            <a:r>
              <a:rPr lang="en-US" sz="1000" dirty="0" err="1">
                <a:solidFill>
                  <a:srgbClr val="D5DDE8"/>
                </a:solidFill>
              </a:rPr>
              <a:t>nos</a:t>
            </a:r>
            <a:r>
              <a:rPr lang="en-US" sz="1000" dirty="0">
                <a:solidFill>
                  <a:srgbClr val="D5DDE8"/>
                </a:solidFill>
              </a:rPr>
              <a:t> corte la luz juju)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85032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85032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"descripcion"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66360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30368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2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8815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21808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Push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D5DDE8"/>
                </a:solidFill>
              </a:rPr>
              <a:t>Cada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vez</a:t>
            </a:r>
            <a:r>
              <a:rPr lang="en-US" sz="1000" dirty="0">
                <a:solidFill>
                  <a:srgbClr val="D5DDE8"/>
                </a:solidFill>
              </a:rPr>
              <a:t> que </a:t>
            </a:r>
            <a:r>
              <a:rPr lang="en-US" sz="1000" dirty="0" err="1">
                <a:solidFill>
                  <a:srgbClr val="D5DDE8"/>
                </a:solidFill>
              </a:rPr>
              <a:t>sientes</a:t>
            </a:r>
            <a:r>
              <a:rPr lang="en-US" sz="1000" dirty="0">
                <a:solidFill>
                  <a:srgbClr val="D5DDE8"/>
                </a:solidFill>
              </a:rPr>
              <a:t> que </a:t>
            </a:r>
            <a:r>
              <a:rPr lang="en-US" sz="1000" dirty="0" err="1">
                <a:solidFill>
                  <a:srgbClr val="D5DDE8"/>
                </a:solidFill>
              </a:rPr>
              <a:t>haz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hecho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progreso</a:t>
            </a:r>
            <a:r>
              <a:rPr lang="en-US" sz="1000" dirty="0">
                <a:solidFill>
                  <a:srgbClr val="D5DDE8"/>
                </a:solidFill>
              </a:rPr>
              <a:t> considerable, </a:t>
            </a:r>
            <a:r>
              <a:rPr lang="en-US" sz="1000" dirty="0" err="1">
                <a:solidFill>
                  <a:srgbClr val="D5DDE8"/>
                </a:solidFill>
              </a:rPr>
              <a:t>súbelo</a:t>
            </a:r>
            <a:r>
              <a:rPr lang="en-US" sz="1000" dirty="0">
                <a:solidFill>
                  <a:srgbClr val="D5DDE8"/>
                </a:solidFill>
              </a:rPr>
              <a:t> a tu rama al servidor (GitHub)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21808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21808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03136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67144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24928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958584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Merge &amp; Pull Request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58584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5DDE8"/>
                </a:solidFill>
              </a:rPr>
              <a:t>MILESTONE: </a:t>
            </a:r>
            <a:r>
              <a:rPr lang="en-US" sz="1000" dirty="0" err="1">
                <a:solidFill>
                  <a:srgbClr val="D5DDE8"/>
                </a:solidFill>
              </a:rPr>
              <a:t>Pedimos</a:t>
            </a:r>
            <a:r>
              <a:rPr lang="en-US" sz="1000" dirty="0">
                <a:solidFill>
                  <a:srgbClr val="D5DDE8"/>
                </a:solidFill>
              </a:rPr>
              <a:t> que </a:t>
            </a:r>
            <a:r>
              <a:rPr lang="en-US" sz="1000" dirty="0" err="1">
                <a:solidFill>
                  <a:srgbClr val="D5DDE8"/>
                </a:solidFill>
              </a:rPr>
              <a:t>nuestros</a:t>
            </a:r>
            <a:r>
              <a:rPr lang="en-US" sz="1000" dirty="0">
                <a:solidFill>
                  <a:srgbClr val="D5DDE8"/>
                </a:solidFill>
              </a:rPr>
              <a:t> cambios se integren al </a:t>
            </a:r>
            <a:r>
              <a:rPr lang="en-US" sz="1000" dirty="0" err="1">
                <a:solidFill>
                  <a:srgbClr val="D5DDE8"/>
                </a:solidFill>
              </a:rPr>
              <a:t>proyecto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u="sng" dirty="0">
                <a:solidFill>
                  <a:srgbClr val="D5DDE8"/>
                </a:solidFill>
              </a:rPr>
              <a:t>principal.</a:t>
            </a:r>
          </a:p>
          <a:p>
            <a:pPr marL="0" indent="0" algn="ctr">
              <a:buNone/>
            </a:pPr>
            <a:r>
              <a:rPr lang="en-US" sz="1000" b="1" dirty="0" err="1">
                <a:solidFill>
                  <a:srgbClr val="D5DDE8"/>
                </a:solidFill>
              </a:rPr>
              <a:t>Interviene</a:t>
            </a:r>
            <a:r>
              <a:rPr lang="en-US" sz="1000" b="1" dirty="0">
                <a:solidFill>
                  <a:srgbClr val="D5DDE8"/>
                </a:solidFill>
              </a:rPr>
              <a:t> </a:t>
            </a:r>
            <a:r>
              <a:rPr lang="en-US" sz="1000" b="1" dirty="0" err="1">
                <a:solidFill>
                  <a:srgbClr val="D5DDE8"/>
                </a:solidFill>
              </a:rPr>
              <a:t>el</a:t>
            </a:r>
            <a:r>
              <a:rPr lang="en-US" sz="1000" b="1" dirty="0">
                <a:solidFill>
                  <a:srgbClr val="D5DDE8"/>
                </a:solidFill>
              </a:rPr>
              <a:t> </a:t>
            </a:r>
            <a:r>
              <a:rPr lang="en-US" sz="1000" b="1" dirty="0" err="1">
                <a:solidFill>
                  <a:srgbClr val="D5DDE8"/>
                </a:solidFill>
              </a:rPr>
              <a:t>jefecito</a:t>
            </a:r>
            <a:r>
              <a:rPr lang="en-US" sz="1000" b="1" dirty="0">
                <a:solidFill>
                  <a:srgbClr val="D5DDE8"/>
                </a:solidFill>
              </a:rPr>
              <a:t>  de  Proyecto </a:t>
            </a:r>
            <a:r>
              <a:rPr lang="en-US" sz="1000" b="1" dirty="0" err="1">
                <a:solidFill>
                  <a:srgbClr val="D5DDE8"/>
                </a:solidFill>
              </a:rPr>
              <a:t>si</a:t>
            </a:r>
            <a:r>
              <a:rPr lang="en-US" sz="1000" b="1" dirty="0">
                <a:solidFill>
                  <a:srgbClr val="D5DDE8"/>
                </a:solidFill>
              </a:rPr>
              <a:t> hay </a:t>
            </a:r>
            <a:r>
              <a:rPr lang="en-US" sz="1000" b="1" dirty="0" err="1">
                <a:solidFill>
                  <a:srgbClr val="D5DDE8"/>
                </a:solidFill>
              </a:rPr>
              <a:t>conflictos</a:t>
            </a:r>
            <a:r>
              <a:rPr lang="en-US" sz="1000" b="1" dirty="0">
                <a:solidFill>
                  <a:srgbClr val="D5DDE8"/>
                </a:solidFill>
              </a:rPr>
              <a:t>.</a:t>
            </a:r>
            <a:endParaRPr lang="en-US" sz="1000" b="1" dirty="0"/>
          </a:p>
        </p:txBody>
      </p:sp>
      <p:sp>
        <p:nvSpPr>
          <p:cNvPr id="41" name="Shape 39"/>
          <p:cNvSpPr/>
          <p:nvPr/>
        </p:nvSpPr>
        <p:spPr>
          <a:xfrm>
            <a:off x="6958584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58584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GitHub.com → New PR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¿Por qué debería importarme?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9728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28016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49808" y="1234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Nunca mas perdes trabajo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75564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Cada cambio queda registrado. Si algo se rompe, podes volver atras en segundos.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82112" y="109728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82112" y="109728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28016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234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Colaborar sin pisar el trabajo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Las ramas permiten que 5 personas modifiquen el mismo proyecto simultaneamente sin conflictos.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9904" y="109728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9904" y="109728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99632" y="128016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9632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65392" y="1234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Transparencia total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81344" y="175564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Quien cambio que, cuando y por que. El historial es el acta de reunion que nadie tiene que escribir.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97180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97180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" y="315468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" y="3108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Estandar de la industria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363016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95% de los proyectos de software del mundo usan Git. Aprenderlo hoy abre puertas manana.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82112" y="297180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182112" y="297180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5468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3108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Code review y calidad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73552" y="363016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Los Pull Requests permiten revisar cambios antes de integrarlos. El equipo aprende mirando el trabajo ajeno.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297180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9904" y="297180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99632" y="315468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9963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3108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Deployment automatico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81344" y="363016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GitHub se conecta con servidores: cada push puede disparar un despliegue automatico a produccion.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Paso 1: Crea tu cuenta en GitHub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949440" y="228600"/>
            <a:ext cx="20116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github.com/signup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B0"/>
                </a:solidFill>
              </a:rPr>
              <a:t>Gratis. Sin tarjeta de credito. Tarda menos de 2 minutos.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53312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150876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14081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Ingresa a github.com y clic en "Sign up"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17007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El boton verde grande en la esquina superior derecha de la pantalla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60720" y="1444752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14447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github.com/signup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075688"/>
            <a:ext cx="8595360" cy="64008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" y="2231136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21305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Ingresa tu email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24231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Usa el email de trabajo o personal. Lo necesitaras para verificar la cuenta.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760720" y="2167128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21671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tu@email.com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798064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84048" y="295351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28529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Crea una contrasena y elige tu username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31455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El username es tu identidad publica en GitHub (ej: juan-garcia). Aparecera en tus repos.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60720" y="2889504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28895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unico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3520440"/>
            <a:ext cx="8595360" cy="64008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84048" y="3675888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3675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960" y="35753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Verifica que no </a:t>
            </a:r>
            <a:r>
              <a:rPr lang="en-US" sz="1200" b="1" dirty="0" err="1">
                <a:solidFill>
                  <a:srgbClr val="0D1B2A"/>
                </a:solidFill>
              </a:rPr>
              <a:t>eres</a:t>
            </a:r>
            <a:r>
              <a:rPr lang="en-US" sz="1200" b="1" dirty="0">
                <a:solidFill>
                  <a:srgbClr val="0D1B2A"/>
                </a:solidFill>
              </a:rPr>
              <a:t> un robot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38679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Resuelve el captcha visual que aparece en pantalla.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 en la imagen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4242816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84048" y="439826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4398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2960" y="42976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Revisa tu email y clic en el link de verificacion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2960" y="4590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GitHub envia un codigo de 6 digitos. Ingresalo en la pantalla. Listo — cuenta creada.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60720" y="4334256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433425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codigo en tu email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Paso 2: Crea tu primer repositorio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B0"/>
                </a:solidFill>
              </a:rPr>
              <a:t>Un repositorio es tu proyecto. Vamos a crear uno desde GitHub.com.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280160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115568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Clic en el "+" arriba a la derecha → "New repository"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65376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2029968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299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1865376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Dale un nombre al repo (ej: "mi-primer-repo"). Sin espacios.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" y="2779776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27797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15184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Marcalo como "Public" para que todos lo puedan ver.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364992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3529584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5295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3364992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Tilda "Add a README file" — esto inicializa el repo con un archivo.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114800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" y="4279392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279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4114800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Clic en el boton verde "Create repository". Listo.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23560" y="1051560"/>
            <a:ext cx="3246120" cy="38404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23560" y="1051560"/>
            <a:ext cx="324612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23560" y="10515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 / new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760720" y="1508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Repository name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60720" y="1783080"/>
            <a:ext cx="292608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1783080"/>
            <a:ext cx="29260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mi-primer-repo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760720" y="23317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Visibility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60720" y="2606040"/>
            <a:ext cx="292608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 (seleccionado)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760720" y="29260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Initialize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760720" y="3200400"/>
            <a:ext cx="292608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3200400"/>
            <a:ext cx="29260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README file  [x]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760720" y="4160520"/>
            <a:ext cx="2926080" cy="384048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4160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Create repository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Paso 3: Instala Git en tu computadora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Para controlar GitHub desde la terminal necesitas Git instalado localmente.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325880"/>
            <a:ext cx="2834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325880"/>
            <a:ext cx="283464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325880"/>
            <a:ext cx="475488" cy="5303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32588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325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Windows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1920240"/>
            <a:ext cx="265176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9202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git-scm.com/download/win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8328" y="234086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3408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85216" y="230428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Entra a git-scm.com/download/win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" y="2688336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" y="26883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85216" y="26517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Se descarga automaticamente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8328" y="3035808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3035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85216" y="29992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Ejecuta el instalador (.exe)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8328" y="3383280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85216" y="334670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Dejalo todo por defecto → "Next"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8328" y="3730752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730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5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85216" y="369417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Abre "Git Bash" desde el menu inicio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8328" y="407822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4078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85216" y="40416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Escribe: git --version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28600" y="4599432"/>
            <a:ext cx="2834640" cy="24688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9943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9A94B"/>
                </a:solidFill>
              </a:rPr>
              <a:t>Tip: usa Git Bash, no CMD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46120" y="1325880"/>
            <a:ext cx="2834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46120" y="1325880"/>
            <a:ext cx="283464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46120" y="1325880"/>
            <a:ext cx="475488" cy="5303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46120" y="132588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MAC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49040" y="1325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Mac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337560" y="1920240"/>
            <a:ext cx="265176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9202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git-scm.com/download/mac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355848" y="234086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55848" y="23408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1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602736" y="230428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Abre la app Terminal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55848" y="2688336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55848" y="26883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602736" y="26517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Escribe: git --version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355848" y="3035808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55848" y="3035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3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602736" y="29992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Mac te va a preguntar si instalar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355848" y="3383280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55848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4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602736" y="334670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Clic en "Install" y espera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355848" y="3730752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55848" y="3730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5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3602736" y="369417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Listo — Git ya esta disponible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355848" y="407822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5848" y="4078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6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602736" y="40416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Vuelve a escribir: git --version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46120" y="4599432"/>
            <a:ext cx="2834640" cy="24688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46120" y="459943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9A94B"/>
                </a:solidFill>
              </a:rPr>
              <a:t>En Mac generalmente ya viene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1325880"/>
            <a:ext cx="2834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263640" y="1325880"/>
            <a:ext cx="283464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63640" y="1325880"/>
            <a:ext cx="475488" cy="5303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63640" y="132588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LNX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766560" y="1325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Linux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6355080" y="1920240"/>
            <a:ext cx="265176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9202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/ yum / pacman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6373368" y="234086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73368" y="23408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1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620256" y="230428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Abre una terminal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373368" y="2688336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373368" y="26883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2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620256" y="26517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Ubuntu/Debian: sudo apt install git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373368" y="3035808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373368" y="3035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3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620256" y="29992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Fedora: sudo dnf install git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373368" y="3383280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73368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4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6620256" y="334670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Arch: sudo pacman -S git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373368" y="3730752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73368" y="3730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5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6620256" y="369417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Confirma con tu contrasena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373368" y="407822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73368" y="4078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6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6620256" y="40416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Verifica: git --version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3640" y="4599432"/>
            <a:ext cx="2834640" cy="24688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3640" y="459943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9A94B"/>
                </a:solidFill>
              </a:rPr>
              <a:t>Suele estar preinstalado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28600" y="4892040"/>
            <a:ext cx="8686800" cy="24688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4892040"/>
            <a:ext cx="8686800" cy="2468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 verificar que todo funciona, escribe en tu terminal:   git --version   →  deberias ver algo como:  git version 2.x.x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1/5: Setup — Terminal y configuracion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SETUP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Primero verificamos que Git esta listo y le decimos quien sos.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91640"/>
            <a:ext cx="484632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" y="202082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2104" y="1691640"/>
            <a:ext cx="416052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Abre la terminal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" y="2205167"/>
            <a:ext cx="416052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Windows: busca Git Bash en el menu inicio.  Mac/Linux: abre Terminal.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2788920"/>
            <a:ext cx="4846320" cy="98755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" y="311810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" y="2788920"/>
            <a:ext cx="416052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 la version de Git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" y="3302447"/>
            <a:ext cx="416052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Escribe git --version y presiona Enter. Debes ver un numero de version.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3886200"/>
            <a:ext cx="484632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" y="421538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" y="3886200"/>
            <a:ext cx="416052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Configurate (solo la primera vez)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104" y="4399727"/>
            <a:ext cx="416052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Ingresa tu nombre y el email con el que te registraste en GitHub</a:t>
            </a:r>
            <a:r>
              <a:rPr lang="en-US" sz="950" dirty="0">
                <a:solidFill>
                  <a:srgbClr val="8A9BB0"/>
                </a:solidFill>
              </a:rPr>
              <a:t>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257800" y="1691640"/>
            <a:ext cx="3630168" cy="3291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57800" y="1691640"/>
            <a:ext cx="363016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94960" y="1773936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59552" y="1773936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24144" y="1773936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97880" y="1691640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22392" y="203911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--version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22392" y="235000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version 2.43.0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22392" y="2660904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22392" y="297180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user.name "Tu Nombre"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2392" y="328269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(sin salida = todo bien)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22392" y="359359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user.email "tu@email.com"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22392" y="390448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422392" y="399511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--list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416791" y="434909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user.name=Tu Nombre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422392" y="4637825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user.email=tu@email.com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2/5: Token de acceso + Clone del repo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CLONE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Antes de poder subir cambios, GitHub necesita verificar tu identidad.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 Clone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389120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1664208"/>
            <a:ext cx="4389120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20A"/>
                </a:solidFill>
              </a:rPr>
              <a:t>A)  </a:t>
            </a:r>
            <a:r>
              <a:rPr lang="en-US" sz="1400" b="1" u="sng" dirty="0">
                <a:solidFill>
                  <a:srgbClr val="F4820A"/>
                </a:solidFill>
              </a:rPr>
              <a:t>OPCIONAL: </a:t>
            </a:r>
            <a:r>
              <a:rPr lang="en-US" sz="1400" b="1" dirty="0">
                <a:solidFill>
                  <a:srgbClr val="F4820A"/>
                </a:solidFill>
              </a:rPr>
              <a:t>Genera tu Personal Access Token (PAT)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6032" y="2029968"/>
            <a:ext cx="4389120" cy="39319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9184" y="2103120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21031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029968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GitHub.com → foto de perfil → Settings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" y="2468880"/>
            <a:ext cx="4389120" cy="39319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" y="2542032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254203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2468880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Menu izquierdo → Developer settings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2907792"/>
            <a:ext cx="4389120" cy="39319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" y="2980944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298094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" y="2907792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Personal access tokens → Tokens (classic)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346704"/>
            <a:ext cx="4389120" cy="39319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" y="3419856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" y="34198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" y="3346704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Generate new token → nombre: clase, 7 dias, scope: repo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" y="3785616"/>
            <a:ext cx="4389120" cy="39319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" y="3858768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38587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" y="3785616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Generate token → COPIA el token (ghp_...)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6032" y="4251960"/>
            <a:ext cx="4389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6032" y="4251960"/>
            <a:ext cx="457200" cy="50292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6032" y="4251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!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9808" y="4251960"/>
            <a:ext cx="38404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3E00"/>
                </a:solidFill>
              </a:rPr>
              <a:t>Copia el token ahora — GitHub solo lo muestra una vez. Pegalo en Notas.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28032" y="1664208"/>
            <a:ext cx="4069080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1664208"/>
            <a:ext cx="4069080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820A"/>
                </a:solidFill>
              </a:rPr>
              <a:t>B) Clona el repositorio de la clase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28032" y="2029968"/>
            <a:ext cx="4069080" cy="27432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4828032" y="2029968"/>
            <a:ext cx="4069080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65192" y="211226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29784" y="211226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94376" y="211226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68112" y="20299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92624" y="2377440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</a:rPr>
              <a:t>.com/jqvargas/Clase_CCGUC.git</a:t>
            </a:r>
          </a:p>
        </p:txBody>
      </p:sp>
      <p:sp>
        <p:nvSpPr>
          <p:cNvPr id="53" name="Text 51"/>
          <p:cNvSpPr/>
          <p:nvPr/>
        </p:nvSpPr>
        <p:spPr>
          <a:xfrm>
            <a:off x="4992624" y="268833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956048" y="266705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Cloning into 'Clase_CCGUC'...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965192" y="2926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992624" y="362102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965828" y="3227711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Clase_CCGUC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992624" y="424281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965192" y="352958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remote -v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965828" y="3888017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  .../jqvargas/Clase_CCGUC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3/5: Crea tu rama y edita el archivo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BRANCH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Nunca trabajamos directo en main. Cada persona tiene su propia rama.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 Branch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572000" cy="7498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" y="187452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2104" y="166420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Crea tu rama con tu nombre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" y="1956816"/>
            <a:ext cx="3995928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Reemplaza nombre-apellido con el tuyo real. Ej: git checkout -b juan-garcia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2487168"/>
            <a:ext cx="4572000" cy="7498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" y="269748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" y="248716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Confirma en que rama estas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" y="2803916"/>
            <a:ext cx="3886200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branch muestra todas las ramas. La activa tiene un asterisco (*).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3310128"/>
            <a:ext cx="4572000" cy="7498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" y="352044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" y="331012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Abre y edita participantes.md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104" y="3626915"/>
            <a:ext cx="3886200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Usa cualquier editor de texto (Notepad, VS Code, nano). Agrega una linea nueva con tu nombre.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6032" y="4133088"/>
            <a:ext cx="4572000" cy="7498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93192" y="434340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32104" y="413308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 el estado del archivo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2104" y="4413260"/>
            <a:ext cx="3886200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status te muestra que archivos cambiaron y estan listos para commit.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983480" y="1664208"/>
            <a:ext cx="3913632" cy="3291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983480" y="1664208"/>
            <a:ext cx="3913632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20640" y="174650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85232" y="174650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9824" y="174650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16642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148072" y="2011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</a:t>
            </a:r>
            <a:r>
              <a:rPr lang="en-US" sz="10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nombre-apellido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(branch name!)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48072" y="232257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Switched to a new branch 'nombre-apellido'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148072" y="263347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148072" y="294436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48072" y="3255264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nombre-apellido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148072" y="356616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148072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148072" y="418795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edita participantes.md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148072" y="449884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agrega: - Tu Nombre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148072" y="4809744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148072" y="512064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48072" y="5431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modified: participantes.md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4/5: Commit, Push y Pull Request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COMMIT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Guardas tu cambio, lo subes a GitHub y pides que lo integren.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4 Commit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57200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" y="199339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2104" y="1664208"/>
            <a:ext cx="388620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Prepara y commitea </a:t>
            </a:r>
            <a:r>
              <a:rPr lang="en-US" sz="1200" b="1" dirty="0" err="1">
                <a:solidFill>
                  <a:srgbClr val="FFFFFF"/>
                </a:solidFill>
              </a:rPr>
              <a:t>los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cambios</a:t>
            </a:r>
            <a:r>
              <a:rPr lang="en-US" sz="1200" b="1" dirty="0">
                <a:solidFill>
                  <a:srgbClr val="FFFFFF"/>
                </a:solidFill>
              </a:rPr>
              <a:t>&gt; “git add.”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9536" y="2090501"/>
            <a:ext cx="388620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add . </a:t>
            </a:r>
            <a:r>
              <a:rPr lang="en-US" sz="1100" dirty="0" err="1">
                <a:solidFill>
                  <a:srgbClr val="8A9BB0"/>
                </a:solidFill>
              </a:rPr>
              <a:t>agrega</a:t>
            </a:r>
            <a:r>
              <a:rPr lang="en-US" sz="1100" dirty="0">
                <a:solidFill>
                  <a:srgbClr val="8A9BB0"/>
                </a:solidFill>
              </a:rPr>
              <a:t> todo lo modificado.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commit -m guarda el punto con un mensaje descriptivo.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2761488"/>
            <a:ext cx="4572000" cy="98755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" y="309067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3090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9536" y="2732593"/>
            <a:ext cx="388620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Solicita</a:t>
            </a:r>
            <a:r>
              <a:rPr lang="en-US" sz="1200" b="1" dirty="0">
                <a:solidFill>
                  <a:srgbClr val="FFFFFF"/>
                </a:solidFill>
              </a:rPr>
              <a:t> al </a:t>
            </a:r>
            <a:r>
              <a:rPr lang="en-US" sz="1200" b="1" dirty="0" err="1">
                <a:solidFill>
                  <a:srgbClr val="FFFFFF"/>
                </a:solidFill>
              </a:rPr>
              <a:t>profe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permiso</a:t>
            </a:r>
            <a:r>
              <a:rPr lang="en-US" sz="1200" b="1" dirty="0">
                <a:solidFill>
                  <a:srgbClr val="FFFFFF"/>
                </a:solidFill>
              </a:rPr>
              <a:t> para </a:t>
            </a:r>
            <a:r>
              <a:rPr lang="en-US" sz="1200" b="1" dirty="0" err="1">
                <a:solidFill>
                  <a:srgbClr val="FFFFFF"/>
                </a:solidFill>
              </a:rPr>
              <a:t>pushear</a:t>
            </a:r>
            <a:r>
              <a:rPr lang="en-US" sz="1200" b="1" dirty="0">
                <a:solidFill>
                  <a:srgbClr val="FFFFFF"/>
                </a:solidFill>
              </a:rPr>
              <a:t> (dale </a:t>
            </a:r>
            <a:r>
              <a:rPr lang="en-US" sz="1200" b="1" dirty="0" err="1">
                <a:solidFill>
                  <a:srgbClr val="FFFFFF"/>
                </a:solidFill>
              </a:rPr>
              <a:t>tu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usuario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59536" y="3155411"/>
            <a:ext cx="4014216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Ingresa</a:t>
            </a:r>
            <a:r>
              <a:rPr lang="en-US" sz="1100" dirty="0">
                <a:solidFill>
                  <a:schemeClr val="bg1"/>
                </a:solidFill>
              </a:rPr>
              <a:t> a </a:t>
            </a:r>
          </a:p>
          <a:p>
            <a:pPr marL="0" indent="0">
              <a:buNone/>
            </a:pPr>
            <a:r>
              <a:rPr lang="en-US" sz="1100" u="sng" dirty="0">
                <a:solidFill>
                  <a:schemeClr val="bg1"/>
                </a:solidFill>
              </a:rPr>
              <a:t>github.com/</a:t>
            </a:r>
            <a:r>
              <a:rPr lang="en-US" sz="1100" u="sng" dirty="0" err="1">
                <a:solidFill>
                  <a:schemeClr val="bg1"/>
                </a:solidFill>
              </a:rPr>
              <a:t>jqvargas</a:t>
            </a:r>
            <a:r>
              <a:rPr lang="en-US" sz="1100" u="sng" dirty="0">
                <a:solidFill>
                  <a:schemeClr val="bg1"/>
                </a:solidFill>
              </a:rPr>
              <a:t>/</a:t>
            </a:r>
            <a:r>
              <a:rPr lang="en-US" sz="1100" u="sng" dirty="0" err="1">
                <a:solidFill>
                  <a:schemeClr val="bg1"/>
                </a:solidFill>
              </a:rPr>
              <a:t>Clase_CCGUC</a:t>
            </a:r>
            <a:r>
              <a:rPr lang="en-US" sz="1100" u="sng" dirty="0">
                <a:solidFill>
                  <a:schemeClr val="bg1"/>
                </a:solidFill>
              </a:rPr>
              <a:t>/invitations 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y </a:t>
            </a:r>
            <a:r>
              <a:rPr lang="en-US" sz="1100" dirty="0" err="1">
                <a:solidFill>
                  <a:schemeClr val="bg1"/>
                </a:solidFill>
              </a:rPr>
              <a:t>acepta</a:t>
            </a:r>
            <a:r>
              <a:rPr lang="en-US" sz="1100" dirty="0">
                <a:solidFill>
                  <a:schemeClr val="bg1"/>
                </a:solidFill>
              </a:rPr>
              <a:t> la </a:t>
            </a:r>
            <a:r>
              <a:rPr lang="en-US" sz="1100" dirty="0" err="1">
                <a:solidFill>
                  <a:schemeClr val="bg1"/>
                </a:solidFill>
              </a:rPr>
              <a:t>invitación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56032" y="3858768"/>
            <a:ext cx="457200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" y="418795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4187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" y="3858768"/>
            <a:ext cx="388620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Sube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tu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rama</a:t>
            </a:r>
            <a:r>
              <a:rPr lang="en-US" sz="1200" b="1" dirty="0">
                <a:solidFill>
                  <a:srgbClr val="FFFFFF"/>
                </a:solidFill>
              </a:rPr>
              <a:t> al </a:t>
            </a:r>
            <a:r>
              <a:rPr lang="en-US" sz="1200" b="1" dirty="0" err="1">
                <a:solidFill>
                  <a:srgbClr val="FFFFFF"/>
                </a:solidFill>
              </a:rPr>
              <a:t>servidor</a:t>
            </a:r>
            <a:r>
              <a:rPr lang="en-US" sz="1200" b="1" dirty="0">
                <a:solidFill>
                  <a:srgbClr val="FFFFFF"/>
                </a:solidFill>
              </a:rPr>
              <a:t> “git push </a:t>
            </a:r>
            <a:r>
              <a:rPr lang="en-US" sz="1200" b="1" dirty="0" err="1">
                <a:solidFill>
                  <a:srgbClr val="FFFFFF"/>
                </a:solidFill>
              </a:rPr>
              <a:t>oirigin</a:t>
            </a:r>
            <a:r>
              <a:rPr lang="en-US" sz="1200" b="1" dirty="0">
                <a:solidFill>
                  <a:srgbClr val="FFFFFF"/>
                </a:solidFill>
              </a:rPr>
              <a:t> branch”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" y="4343400"/>
            <a:ext cx="388620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 err="1">
                <a:solidFill>
                  <a:srgbClr val="8A9BB0"/>
                </a:solidFill>
              </a:rPr>
              <a:t>Acá</a:t>
            </a:r>
            <a:r>
              <a:rPr lang="en-US" sz="1100" dirty="0">
                <a:solidFill>
                  <a:srgbClr val="8A9BB0"/>
                </a:solidFill>
              </a:rPr>
              <a:t> te </a:t>
            </a:r>
            <a:r>
              <a:rPr lang="en-US" sz="1100" dirty="0" err="1">
                <a:solidFill>
                  <a:srgbClr val="8A9BB0"/>
                </a:solidFill>
              </a:rPr>
              <a:t>va</a:t>
            </a:r>
            <a:r>
              <a:rPr lang="en-US" sz="1100" dirty="0">
                <a:solidFill>
                  <a:srgbClr val="8A9BB0"/>
                </a:solidFill>
              </a:rPr>
              <a:t> a </a:t>
            </a:r>
            <a:r>
              <a:rPr lang="en-US" sz="1100" dirty="0" err="1">
                <a:solidFill>
                  <a:srgbClr val="8A9BB0"/>
                </a:solidFill>
              </a:rPr>
              <a:t>pedir</a:t>
            </a:r>
            <a:r>
              <a:rPr lang="en-US" sz="1100" dirty="0">
                <a:solidFill>
                  <a:srgbClr val="8A9BB0"/>
                </a:solidFill>
              </a:rPr>
              <a:t> </a:t>
            </a:r>
            <a:r>
              <a:rPr lang="en-US" sz="1100" dirty="0" err="1">
                <a:solidFill>
                  <a:srgbClr val="8A9BB0"/>
                </a:solidFill>
              </a:rPr>
              <a:t>logearte</a:t>
            </a:r>
            <a:r>
              <a:rPr lang="en-US" sz="1100" dirty="0">
                <a:solidFill>
                  <a:srgbClr val="8A9BB0"/>
                </a:solidFill>
              </a:rPr>
              <a:t>. Lo </a:t>
            </a:r>
            <a:r>
              <a:rPr lang="en-US" sz="1100" dirty="0" err="1">
                <a:solidFill>
                  <a:srgbClr val="8A9BB0"/>
                </a:solidFill>
              </a:rPr>
              <a:t>más</a:t>
            </a:r>
            <a:r>
              <a:rPr lang="en-US" sz="1100" dirty="0">
                <a:solidFill>
                  <a:srgbClr val="8A9BB0"/>
                </a:solidFill>
              </a:rPr>
              <a:t> </a:t>
            </a:r>
            <a:r>
              <a:rPr lang="en-US" sz="1100" dirty="0" err="1">
                <a:solidFill>
                  <a:srgbClr val="8A9BB0"/>
                </a:solidFill>
              </a:rPr>
              <a:t>fácil</a:t>
            </a:r>
            <a:r>
              <a:rPr lang="en-US" sz="1100" dirty="0">
                <a:solidFill>
                  <a:srgbClr val="8A9BB0"/>
                </a:solidFill>
              </a:rPr>
              <a:t> es </a:t>
            </a:r>
            <a:r>
              <a:rPr lang="en-US" sz="1100" dirty="0" err="1">
                <a:solidFill>
                  <a:srgbClr val="8A9BB0"/>
                </a:solidFill>
              </a:rPr>
              <a:t>utilizar</a:t>
            </a:r>
            <a:r>
              <a:rPr lang="en-US" sz="1100" dirty="0">
                <a:solidFill>
                  <a:srgbClr val="8A9BB0"/>
                </a:solidFill>
              </a:rPr>
              <a:t> la </a:t>
            </a:r>
            <a:r>
              <a:rPr lang="en-US" sz="1100" dirty="0" err="1">
                <a:solidFill>
                  <a:srgbClr val="8A9BB0"/>
                </a:solidFill>
              </a:rPr>
              <a:t>opción</a:t>
            </a:r>
            <a:r>
              <a:rPr lang="en-US" sz="1100" dirty="0">
                <a:solidFill>
                  <a:srgbClr val="8A9BB0"/>
                </a:solidFill>
              </a:rPr>
              <a:t> con </a:t>
            </a:r>
            <a:r>
              <a:rPr lang="en-US" sz="1100" dirty="0" err="1">
                <a:solidFill>
                  <a:srgbClr val="8A9BB0"/>
                </a:solidFill>
              </a:rPr>
              <a:t>el</a:t>
            </a:r>
            <a:r>
              <a:rPr lang="en-US" sz="1100" dirty="0">
                <a:solidFill>
                  <a:srgbClr val="8A9BB0"/>
                </a:solidFill>
              </a:rPr>
              <a:t> web browser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83480" y="1664208"/>
            <a:ext cx="3913632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664208"/>
            <a:ext cx="3913632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0640" y="174650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85232" y="174650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9824" y="174650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23560" y="16642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148072" y="2011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48072" y="232257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48072" y="263347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"Agrego: Tu Nombre"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48072" y="294436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[nombre-apellido 4c2e1a] Agrego: Tu Nombre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148072" y="3255264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148072" y="356616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</a:t>
            </a:r>
            <a:r>
              <a:rPr lang="en-US" sz="10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nombre-apellido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(branch name!)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48072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Username: tu-usuario-github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148072" y="418795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Password: ghp_XXXX  &lt;- TOKEN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983480" y="4343400"/>
            <a:ext cx="621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KEY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5/5: El instructor mergea tu PR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MERGE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El instructor aprueba los cambios en vivo — veras tu nombre en main.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5 Merge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480560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1664208"/>
            <a:ext cx="4480560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20A"/>
                </a:solidFill>
              </a:rPr>
              <a:t>Si hay </a:t>
            </a:r>
            <a:r>
              <a:rPr lang="en-US" sz="1400" b="1" dirty="0" err="1">
                <a:solidFill>
                  <a:srgbClr val="F4820A"/>
                </a:solidFill>
              </a:rPr>
              <a:t>conflictos</a:t>
            </a:r>
            <a:r>
              <a:rPr lang="en-US" sz="1400" b="1" dirty="0">
                <a:solidFill>
                  <a:srgbClr val="F4820A"/>
                </a:solidFill>
              </a:rPr>
              <a:t>, </a:t>
            </a:r>
            <a:r>
              <a:rPr lang="en-US" sz="1400" b="1" dirty="0" err="1">
                <a:solidFill>
                  <a:srgbClr val="F4820A"/>
                </a:solidFill>
              </a:rPr>
              <a:t>el</a:t>
            </a:r>
            <a:r>
              <a:rPr lang="en-US" sz="1400" b="1" dirty="0">
                <a:solidFill>
                  <a:srgbClr val="F4820A"/>
                </a:solidFill>
              </a:rPr>
              <a:t> instructor (en GitHub.com):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6032" y="2029968"/>
            <a:ext cx="4480560" cy="4297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9184" y="2112264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2112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029968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Abre el repositorio Clase_CCGUC en GitHub.com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" y="2505456"/>
            <a:ext cx="4480560" cy="42976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" y="2587752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2505456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Va a la pestana Pull requests → abre tu PR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2980944"/>
            <a:ext cx="4480560" cy="4297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" y="3063240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3063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" y="2980944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Revisa los cambios en la pestana Files changed y </a:t>
            </a:r>
            <a:r>
              <a:rPr lang="en-US" sz="1100" dirty="0" err="1">
                <a:solidFill>
                  <a:srgbClr val="FFFFFF"/>
                </a:solidFill>
              </a:rPr>
              <a:t>corrige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errores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456432"/>
            <a:ext cx="4480560" cy="42976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" y="3538728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" y="3538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" y="3456432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Click en Merge pull request → Confirm merge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" y="3931920"/>
            <a:ext cx="4480560" cy="4297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" y="4014216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" y="3931920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Tu rama queda fusionada con main sin </a:t>
            </a:r>
            <a:r>
              <a:rPr lang="en-US" sz="1100" dirty="0" err="1">
                <a:solidFill>
                  <a:srgbClr val="FFFFFF"/>
                </a:solidFill>
              </a:rPr>
              <a:t>conflictos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1664208"/>
            <a:ext cx="4005072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1664208"/>
            <a:ext cx="4005072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20A"/>
                </a:solidFill>
              </a:rPr>
              <a:t>Lo que </a:t>
            </a:r>
            <a:r>
              <a:rPr lang="en-US" sz="1200" b="1" dirty="0" err="1">
                <a:solidFill>
                  <a:srgbClr val="F4820A"/>
                </a:solidFill>
              </a:rPr>
              <a:t>tú</a:t>
            </a:r>
            <a:r>
              <a:rPr lang="en-US" sz="1200" b="1" dirty="0">
                <a:solidFill>
                  <a:srgbClr val="F4820A"/>
                </a:solidFill>
              </a:rPr>
              <a:t> </a:t>
            </a:r>
            <a:r>
              <a:rPr lang="en-US" sz="1200" b="1" dirty="0" err="1">
                <a:solidFill>
                  <a:srgbClr val="F4820A"/>
                </a:solidFill>
              </a:rPr>
              <a:t>haces</a:t>
            </a:r>
            <a:r>
              <a:rPr lang="en-US" sz="1200" b="1" dirty="0">
                <a:solidFill>
                  <a:srgbClr val="F4820A"/>
                </a:solidFill>
              </a:rPr>
              <a:t>: actualiza tu copia local con el merge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92040" y="2029968"/>
            <a:ext cx="4005072" cy="2304288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892040" y="2029968"/>
            <a:ext cx="4005072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0" y="211226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93792" y="211226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358384" y="211226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32120" y="20299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56632" y="237744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main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56632" y="268833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Switched to branch 'main'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056632" y="299923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056632" y="331012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main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056632" y="3621024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Updating 9a3f..4c2e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42916" y="384571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participantes.md | 1 +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056632" y="424281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056632" y="455371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participantes.md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029200" y="405145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Tu Nombre  &lt;- ya esta en main!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56032" y="4462272"/>
            <a:ext cx="8641080" cy="50292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6032" y="446227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Tu cambio ya esta en main. Eso es exactamente como funciona GitHub en un equipo real.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Cheatsheet — Los comandos del día a día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51560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51560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78992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&lt;url&gt;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399032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Descargar un repositorio a tu PC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801368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828800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remote -v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2148840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Ver a </a:t>
            </a:r>
            <a:r>
              <a:rPr lang="en-US" sz="1000" dirty="0" err="1">
                <a:solidFill>
                  <a:srgbClr val="8A9BB0"/>
                </a:solidFill>
              </a:rPr>
              <a:t>qué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repositorio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estamos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conectados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51176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551176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" y="2898648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Preparar todos los cambios para commit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" y="3264408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00984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3328416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"mensaje"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" y="3648456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Guardar el punto de control con descripción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4050792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4050792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4078224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4398264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Subir tus commits al servidor (GitHub)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051560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1051560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078992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73752" y="1399032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Traer los últimos cambios del servidor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801368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1801368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73752" y="1828800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&lt;rama&gt;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73752" y="2148840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Crear y cambiar a una nueva rama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2551176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09160" y="2551176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73752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main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73752" y="2898648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A9BB0"/>
                </a:solidFill>
              </a:rPr>
              <a:t>Actualizar</a:t>
            </a:r>
            <a:r>
              <a:rPr lang="en-US" sz="1000" dirty="0">
                <a:solidFill>
                  <a:srgbClr val="8A9BB0"/>
                </a:solidFill>
              </a:rPr>
              <a:t> la version local con la </a:t>
            </a:r>
            <a:r>
              <a:rPr lang="en-US" sz="1000" dirty="0" err="1">
                <a:solidFill>
                  <a:srgbClr val="8A9BB0"/>
                </a:solidFill>
              </a:rPr>
              <a:t>rama</a:t>
            </a:r>
            <a:r>
              <a:rPr lang="en-US" sz="1000" dirty="0">
                <a:solidFill>
                  <a:srgbClr val="8A9BB0"/>
                </a:solidFill>
              </a:rPr>
              <a:t> main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09160" y="3300984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300984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73752" y="3328416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&lt;</a:t>
            </a:r>
            <a:r>
              <a:rPr lang="en-US" sz="1100" b="1" dirty="0" err="1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rama</a:t>
            </a: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73752" y="3648456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A9BB0"/>
                </a:solidFill>
              </a:rPr>
              <a:t>Empujar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una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nueva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rama</a:t>
            </a:r>
            <a:r>
              <a:rPr lang="en-US" sz="1000" dirty="0">
                <a:solidFill>
                  <a:srgbClr val="8A9BB0"/>
                </a:solidFill>
              </a:rPr>
              <a:t> al </a:t>
            </a:r>
            <a:r>
              <a:rPr lang="en-US" sz="1000" dirty="0" err="1">
                <a:solidFill>
                  <a:srgbClr val="8A9BB0"/>
                </a:solidFill>
              </a:rPr>
              <a:t>servidor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09160" y="4050792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4050792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73752" y="4078224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user.name / git config </a:t>
            </a:r>
            <a:r>
              <a:rPr lang="en-US" sz="1100" b="1" dirty="0" err="1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user.email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873752" y="4398264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Guardar </a:t>
            </a:r>
            <a:r>
              <a:rPr lang="en-US" sz="1000" dirty="0" err="1">
                <a:solidFill>
                  <a:srgbClr val="8A9BB0"/>
                </a:solidFill>
              </a:rPr>
              <a:t>cambios</a:t>
            </a:r>
            <a:r>
              <a:rPr lang="en-US" sz="1000" dirty="0">
                <a:solidFill>
                  <a:srgbClr val="8A9BB0"/>
                </a:solidFill>
              </a:rPr>
              <a:t> de </a:t>
            </a:r>
            <a:r>
              <a:rPr lang="en-US" sz="1000" dirty="0" err="1">
                <a:solidFill>
                  <a:srgbClr val="8A9BB0"/>
                </a:solidFill>
              </a:rPr>
              <a:t>usuario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0" y="-731520"/>
            <a:ext cx="4114800" cy="4114800"/>
          </a:xfrm>
          <a:prstGeom prst="ellipse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3017520"/>
            <a:ext cx="2743200" cy="2743200"/>
          </a:xfrm>
          <a:prstGeom prst="ellipse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¡Ya sabes usar GitHub!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A9BB0"/>
                </a:solidFill>
              </a:rPr>
              <a:t>De aquí en adelante, todo es práctica.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20A"/>
                </a:solidFill>
              </a:rPr>
              <a:t>Si </a:t>
            </a:r>
            <a:r>
              <a:rPr lang="en-US" sz="1400" b="1" dirty="0" err="1">
                <a:solidFill>
                  <a:srgbClr val="F4820A"/>
                </a:solidFill>
              </a:rPr>
              <a:t>quieres</a:t>
            </a:r>
            <a:r>
              <a:rPr lang="en-US" sz="1400" b="1" dirty="0">
                <a:solidFill>
                  <a:srgbClr val="F4820A"/>
                </a:solidFill>
              </a:rPr>
              <a:t> </a:t>
            </a:r>
            <a:r>
              <a:rPr lang="en-US" sz="1400" b="1" dirty="0" err="1">
                <a:solidFill>
                  <a:srgbClr val="F4820A"/>
                </a:solidFill>
              </a:rPr>
              <a:t>seguir</a:t>
            </a:r>
            <a:r>
              <a:rPr lang="en-US" sz="1400" b="1" dirty="0">
                <a:solidFill>
                  <a:srgbClr val="F4820A"/>
                </a:solidFill>
              </a:rPr>
              <a:t> </a:t>
            </a:r>
            <a:r>
              <a:rPr lang="en-US" sz="1400" b="1" dirty="0" err="1">
                <a:solidFill>
                  <a:srgbClr val="F4820A"/>
                </a:solidFill>
              </a:rPr>
              <a:t>aprendiendo</a:t>
            </a:r>
            <a:r>
              <a:rPr lang="en-US" sz="1400" b="1" dirty="0">
                <a:solidFill>
                  <a:srgbClr val="F4820A"/>
                </a:solidFill>
              </a:rPr>
              <a:t>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57860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63347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63347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DOC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0120" y="257860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Documentacion oficial — docs.github.com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12724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" y="318211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318211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GAME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60120" y="312724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Aprender jugando — learngitbranching.js.org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67588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" y="373075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37307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EDU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960120" y="367588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GitHub Skills (cursos gratis) — skills.github.com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22452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" y="427939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42793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AI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960120" y="422452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GitHub Copilot (IA en tu editor) — github.com/features/copilot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25" name="Text 2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El mejor momento para hacer tu primer commit fue ayer. El segundo mejor momento es ahora.  🚀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2076</Words>
  <Application>Microsoft Office PowerPoint</Application>
  <PresentationFormat>Presentación en pantalla (16:9)</PresentationFormat>
  <Paragraphs>366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para Equipos: Clase Práctica</dc:title>
  <dc:subject>PptxGenJS Presentation</dc:subject>
  <dc:creator>PptxGenJS</dc:creator>
  <cp:lastModifiedBy>Javier Enrique Vargas Ramirez</cp:lastModifiedBy>
  <cp:revision>3</cp:revision>
  <dcterms:created xsi:type="dcterms:W3CDTF">2026-03-06T21:00:24Z</dcterms:created>
  <dcterms:modified xsi:type="dcterms:W3CDTF">2026-03-06T23:12:46Z</dcterms:modified>
</cp:coreProperties>
</file>