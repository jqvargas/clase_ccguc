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765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91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457200"/>
            <a:ext cx="320040" cy="32004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188720"/>
            <a:ext cx="320040" cy="320040"/>
          </a:xfrm>
          <a:prstGeom prst="ellipse">
            <a:avLst/>
          </a:prstGeom>
          <a:solidFill>
            <a:srgbClr val="F9A94B"/>
          </a:solidFill>
          <a:ln w="12700">
            <a:solidFill>
              <a:srgbClr val="F9A9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920240"/>
            <a:ext cx="320040" cy="32004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05840"/>
            <a:ext cx="2011680" cy="347472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TALLER PRÁCTICO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Equipos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11480" y="3337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A9BB0"/>
                </a:solidFill>
              </a:rPr>
              <a:t>Control de versiones sin miedo · colaboración real · flujo de trabajo moderno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53E5C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git init · git commit · git push · pull request · merge · colaborar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¿Por qué existe GitHub?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5" name="Text 3"/>
          <p:cNvSpPr/>
          <p:nvPr/>
        </p:nvSpPr>
        <p:spPr>
          <a:xfrm>
            <a:off x="365759" y="1051560"/>
            <a:ext cx="8578215" cy="388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4000" dirty="0">
                <a:latin typeface="+mj-lt"/>
              </a:rPr>
              <a:t>Google </a:t>
            </a:r>
            <a:r>
              <a:rPr lang="es-ES" sz="4000" dirty="0" err="1">
                <a:latin typeface="+mj-lt"/>
              </a:rPr>
              <a:t>Docs</a:t>
            </a:r>
            <a:r>
              <a:rPr lang="es-ES" sz="4000" dirty="0">
                <a:latin typeface="+mj-lt"/>
              </a:rPr>
              <a:t> resuelve la colaboración en documentos, Excel, y </a:t>
            </a:r>
            <a:r>
              <a:rPr lang="es-ES" sz="4000" dirty="0" err="1">
                <a:latin typeface="+mj-lt"/>
              </a:rPr>
              <a:t>ppt</a:t>
            </a:r>
            <a:r>
              <a:rPr lang="es-ES" sz="4000" dirty="0">
                <a:latin typeface="+mj-lt"/>
              </a:rPr>
              <a:t>.</a:t>
            </a:r>
            <a:br>
              <a:rPr lang="es-ES" sz="4000" dirty="0">
                <a:latin typeface="+mj-lt"/>
              </a:rPr>
            </a:br>
            <a:r>
              <a:rPr lang="es-ES" sz="4000" dirty="0">
                <a:latin typeface="+mj-lt"/>
              </a:rPr>
              <a:t>Pero en programación, con cientos de </a:t>
            </a:r>
            <a:r>
              <a:rPr lang="es-ES" sz="4000" i="1" dirty="0">
                <a:latin typeface="+mj-lt"/>
              </a:rPr>
              <a:t>scripts</a:t>
            </a:r>
            <a:r>
              <a:rPr lang="es-ES" sz="4000" dirty="0">
                <a:latin typeface="+mj-lt"/>
              </a:rPr>
              <a:t>, hay otra pregunta clave: </a:t>
            </a:r>
            <a:r>
              <a:rPr lang="es-ES" sz="4000" b="1" dirty="0">
                <a:latin typeface="+mj-lt"/>
              </a:rPr>
              <a:t>¿cómo controlamos las versiones?</a:t>
            </a:r>
            <a:endParaRPr 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1133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¿Por qué existe GitHub?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El caos sin control de versiones: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087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informe_final.docx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0391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informe_final_v2.docx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9464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56946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informe_FINAL_este_si.docx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99816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0998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informe_final_CORREGIDO_juan.docx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30168"/>
            <a:ext cx="3931920" cy="438912"/>
          </a:xfrm>
          <a:prstGeom prst="rect">
            <a:avLst/>
          </a:prstGeom>
          <a:solidFill>
            <a:srgbClr val="F9A94B"/>
          </a:solidFill>
          <a:ln w="12700">
            <a:solidFill>
              <a:srgbClr val="F482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630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informe_DEFINITIVO_2024.docx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 GitHub: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508760"/>
            <a:ext cx="4023360" cy="43891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508760"/>
            <a:ext cx="4023360" cy="4389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🕓  Historial completo de cada cambio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039112"/>
            <a:ext cx="4023360" cy="43891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039112"/>
            <a:ext cx="4023360" cy="4389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👥  Varias personas editan en paralelo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9464"/>
            <a:ext cx="4023360" cy="43891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569464"/>
            <a:ext cx="4023360" cy="4389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↩️  Volver a cualquier versión anterior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99816"/>
            <a:ext cx="4023360" cy="43891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3099816"/>
            <a:ext cx="4023360" cy="4389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💬  Revisar y aprobar cambios del equipo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30168"/>
            <a:ext cx="4023360" cy="43891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630168"/>
            <a:ext cx="4023360" cy="4389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🌐  Disponible desde cualquier lugar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34840" y="1188720"/>
            <a:ext cx="0" cy="3474720"/>
          </a:xfrm>
          <a:prstGeom prst="line">
            <a:avLst/>
          </a:prstGeom>
          <a:noFill/>
          <a:ln w="12700">
            <a:solidFill>
              <a:srgbClr val="D5DDE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920240" y="4617720"/>
            <a:ext cx="347472" cy="34747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4617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461772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617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 conceptos que necesitás entender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0292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820A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1234440"/>
            <a:ext cx="411480" cy="29260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2344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REPO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280160" y="1207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Repositorio (repo)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664208"/>
            <a:ext cx="347472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E45"/>
                </a:solidFill>
              </a:rPr>
              <a:t>Es el proyecto. Una carpeta inteligente que guarda todos tus archivos Y todo su historial de cambios.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50292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972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820A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30368" y="1234440"/>
            <a:ext cx="411480" cy="29260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12344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SAVE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69280" y="1207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Commit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664208"/>
            <a:ext cx="347472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E45"/>
                </a:solidFill>
              </a:rPr>
              <a:t>Un "punto de guardado" con descripción. Cada commit registra qué cambió, quién lo cambió y cuándo.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50292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175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820A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1248" y="3154680"/>
            <a:ext cx="411480" cy="29260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1546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BRANCH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280160" y="3127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Branch (rama)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584448"/>
            <a:ext cx="347472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E45"/>
                </a:solidFill>
              </a:rPr>
              <a:t>Una copia paralela donde podés experimentar sin afectar el trabajo de los demás. Después se fusiona (merge).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017520"/>
            <a:ext cx="50292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0175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820A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30368" y="3154680"/>
            <a:ext cx="411480" cy="29260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31546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PR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669280" y="3127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Pull Request (PR)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12080" y="3584448"/>
            <a:ext cx="347472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E45"/>
                </a:solidFill>
              </a:rPr>
              <a:t>Pedís que tus cambios se incorporen al trabajo principal. Todos pueden revisar y comentar antes de aceptar.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El flujo de </a:t>
            </a:r>
            <a:r>
              <a:rPr lang="en-US" sz="2600" b="1" dirty="0" err="1">
                <a:solidFill>
                  <a:srgbClr val="FFFFFF"/>
                </a:solidFill>
              </a:rPr>
              <a:t>trabajo</a:t>
            </a:r>
            <a:r>
              <a:rPr lang="en-US" sz="2600" b="1" dirty="0">
                <a:solidFill>
                  <a:srgbClr val="FFFFFF"/>
                </a:solidFill>
              </a:rPr>
              <a:t> que </a:t>
            </a:r>
            <a:r>
              <a:rPr lang="en-US" sz="2600" b="1" dirty="0" err="1">
                <a:solidFill>
                  <a:srgbClr val="FFFFFF"/>
                </a:solidFill>
              </a:rPr>
              <a:t>estudiaremos</a:t>
            </a:r>
            <a:r>
              <a:rPr lang="en-US" sz="2600" b="1" dirty="0">
                <a:solidFill>
                  <a:srgbClr val="FFFFFF"/>
                </a:solidFill>
              </a:rPr>
              <a:t> en 5 pasos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572768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005840"/>
            <a:ext cx="457200" cy="45720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20A"/>
                </a:solidFill>
              </a:rPr>
              <a:t>Clone / Pull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38988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8"/>
                </a:solidFill>
              </a:rPr>
              <a:t>PASO 0: </a:t>
            </a:r>
            <a:r>
              <a:rPr lang="en-US" sz="1000" dirty="0" err="1">
                <a:solidFill>
                  <a:srgbClr val="D5DDE8"/>
                </a:solidFill>
              </a:rPr>
              <a:t>Descargamos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dirty="0" err="1">
                <a:solidFill>
                  <a:srgbClr val="D5DDE8"/>
                </a:solidFill>
              </a:rPr>
              <a:t>el</a:t>
            </a:r>
            <a:r>
              <a:rPr lang="en-US" sz="1000" dirty="0">
                <a:solidFill>
                  <a:srgbClr val="D5DDE8"/>
                </a:solidFill>
              </a:rPr>
              <a:t> Proyecto </a:t>
            </a:r>
            <a:r>
              <a:rPr lang="en-US" sz="1000" dirty="0" err="1">
                <a:solidFill>
                  <a:srgbClr val="D5DDE8"/>
                </a:solidFill>
              </a:rPr>
              <a:t>desde</a:t>
            </a:r>
            <a:r>
              <a:rPr lang="en-US" sz="1000" dirty="0">
                <a:solidFill>
                  <a:srgbClr val="D5DDE8"/>
                </a:solidFill>
              </a:rPr>
              <a:t> GitHub a </a:t>
            </a:r>
            <a:r>
              <a:rPr lang="en-US" sz="1000" dirty="0" err="1">
                <a:solidFill>
                  <a:srgbClr val="D5DDE8"/>
                </a:solidFill>
              </a:rPr>
              <a:t>nuestro</a:t>
            </a:r>
            <a:r>
              <a:rPr lang="en-US" sz="1000" dirty="0">
                <a:solidFill>
                  <a:srgbClr val="D5DDE8"/>
                </a:solidFill>
              </a:rPr>
              <a:t> PC (local)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337560"/>
            <a:ext cx="1389888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337560"/>
            <a:ext cx="138988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92808" y="2651760"/>
            <a:ext cx="64008" cy="731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6816" y="914400"/>
            <a:ext cx="1572768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005840"/>
            <a:ext cx="457200" cy="45720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48256" y="15727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20A"/>
                </a:solidFill>
              </a:rPr>
              <a:t>Branch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48256" y="2057400"/>
            <a:ext cx="138988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8"/>
                </a:solidFill>
              </a:rPr>
              <a:t>Para </a:t>
            </a:r>
            <a:r>
              <a:rPr lang="en-US" sz="1000" dirty="0" err="1">
                <a:solidFill>
                  <a:srgbClr val="D5DDE8"/>
                </a:solidFill>
              </a:rPr>
              <a:t>crear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dirty="0" err="1">
                <a:solidFill>
                  <a:srgbClr val="D5DDE8"/>
                </a:solidFill>
              </a:rPr>
              <a:t>nuestra</a:t>
            </a:r>
            <a:r>
              <a:rPr lang="en-US" sz="1000" dirty="0">
                <a:solidFill>
                  <a:srgbClr val="D5DDE8"/>
                </a:solidFill>
              </a:rPr>
              <a:t> propia rama para trabajar sin molestar a </a:t>
            </a:r>
            <a:r>
              <a:rPr lang="en-US" sz="1000" dirty="0" err="1">
                <a:solidFill>
                  <a:srgbClr val="D5DDE8"/>
                </a:solidFill>
              </a:rPr>
              <a:t>nadie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dirty="0" err="1">
                <a:solidFill>
                  <a:srgbClr val="D5DDE8"/>
                </a:solidFill>
              </a:rPr>
              <a:t>más</a:t>
            </a:r>
            <a:r>
              <a:rPr lang="en-US" sz="1000" dirty="0">
                <a:solidFill>
                  <a:srgbClr val="D5DDE8"/>
                </a:solidFill>
              </a:rPr>
              <a:t> (</a:t>
            </a:r>
            <a:r>
              <a:rPr lang="en-US" sz="1000" dirty="0" err="1">
                <a:solidFill>
                  <a:srgbClr val="D5DDE8"/>
                </a:solidFill>
              </a:rPr>
              <a:t>jijiji</a:t>
            </a:r>
            <a:r>
              <a:rPr lang="en-US" sz="1000" dirty="0">
                <a:solidFill>
                  <a:srgbClr val="D5DDE8"/>
                </a:solidFill>
              </a:rPr>
              <a:t>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48256" y="3337560"/>
            <a:ext cx="1389888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8256" y="3337560"/>
            <a:ext cx="138988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mi-feature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29584" y="2651760"/>
            <a:ext cx="64008" cy="731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93592" y="914400"/>
            <a:ext cx="1572768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51376" y="1005840"/>
            <a:ext cx="457200" cy="45720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5137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85032" y="15727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20A"/>
                </a:solidFill>
              </a:rPr>
              <a:t>Commit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85032" y="2057400"/>
            <a:ext cx="138988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D5DDE8"/>
                </a:solidFill>
              </a:rPr>
              <a:t>Guardas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dirty="0" err="1">
                <a:solidFill>
                  <a:srgbClr val="D5DDE8"/>
                </a:solidFill>
              </a:rPr>
              <a:t>tus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dirty="0" err="1">
                <a:solidFill>
                  <a:srgbClr val="D5DDE8"/>
                </a:solidFill>
              </a:rPr>
              <a:t>cambios</a:t>
            </a:r>
            <a:r>
              <a:rPr lang="en-US" sz="1000" dirty="0">
                <a:solidFill>
                  <a:srgbClr val="D5DDE8"/>
                </a:solidFill>
              </a:rPr>
              <a:t> de forma local con un </a:t>
            </a:r>
            <a:r>
              <a:rPr lang="en-US" sz="1000" dirty="0" err="1">
                <a:solidFill>
                  <a:srgbClr val="D5DDE8"/>
                </a:solidFill>
              </a:rPr>
              <a:t>mensaje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dirty="0" err="1">
                <a:solidFill>
                  <a:srgbClr val="D5DDE8"/>
                </a:solidFill>
              </a:rPr>
              <a:t>descriptivo</a:t>
            </a:r>
            <a:r>
              <a:rPr lang="en-US" sz="1000" dirty="0">
                <a:solidFill>
                  <a:srgbClr val="D5DDE8"/>
                </a:solidFill>
              </a:rPr>
              <a:t> (</a:t>
            </a:r>
            <a:r>
              <a:rPr lang="en-US" sz="1000" dirty="0" err="1">
                <a:solidFill>
                  <a:srgbClr val="D5DDE8"/>
                </a:solidFill>
              </a:rPr>
              <a:t>en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dirty="0" err="1">
                <a:solidFill>
                  <a:srgbClr val="D5DDE8"/>
                </a:solidFill>
              </a:rPr>
              <a:t>caso</a:t>
            </a:r>
            <a:r>
              <a:rPr lang="en-US" sz="1000" dirty="0">
                <a:solidFill>
                  <a:srgbClr val="D5DDE8"/>
                </a:solidFill>
              </a:rPr>
              <a:t> de que se </a:t>
            </a:r>
            <a:r>
              <a:rPr lang="en-US" sz="1000" dirty="0" err="1">
                <a:solidFill>
                  <a:srgbClr val="D5DDE8"/>
                </a:solidFill>
              </a:rPr>
              <a:t>nos</a:t>
            </a:r>
            <a:r>
              <a:rPr lang="en-US" sz="1000" dirty="0">
                <a:solidFill>
                  <a:srgbClr val="D5DDE8"/>
                </a:solidFill>
              </a:rPr>
              <a:t> corte la luz juju)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85032" y="3337560"/>
            <a:ext cx="1389888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3337560"/>
            <a:ext cx="138988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"descripcion"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66360" y="2651760"/>
            <a:ext cx="64008" cy="731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30368" y="914400"/>
            <a:ext cx="1572768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88152" y="1005840"/>
            <a:ext cx="457200" cy="45720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8815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21808" y="15727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20A"/>
                </a:solidFill>
              </a:rPr>
              <a:t>Push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2057400"/>
            <a:ext cx="138988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D5DDE8"/>
                </a:solidFill>
              </a:rPr>
              <a:t>Cada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dirty="0" err="1">
                <a:solidFill>
                  <a:srgbClr val="D5DDE8"/>
                </a:solidFill>
              </a:rPr>
              <a:t>vez</a:t>
            </a:r>
            <a:r>
              <a:rPr lang="en-US" sz="1000" dirty="0">
                <a:solidFill>
                  <a:srgbClr val="D5DDE8"/>
                </a:solidFill>
              </a:rPr>
              <a:t> que </a:t>
            </a:r>
            <a:r>
              <a:rPr lang="en-US" sz="1000" dirty="0" err="1">
                <a:solidFill>
                  <a:srgbClr val="D5DDE8"/>
                </a:solidFill>
              </a:rPr>
              <a:t>sientes</a:t>
            </a:r>
            <a:r>
              <a:rPr lang="en-US" sz="1000" dirty="0">
                <a:solidFill>
                  <a:srgbClr val="D5DDE8"/>
                </a:solidFill>
              </a:rPr>
              <a:t> que </a:t>
            </a:r>
            <a:r>
              <a:rPr lang="en-US" sz="1000" dirty="0" err="1">
                <a:solidFill>
                  <a:srgbClr val="D5DDE8"/>
                </a:solidFill>
              </a:rPr>
              <a:t>haz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dirty="0" err="1">
                <a:solidFill>
                  <a:srgbClr val="D5DDE8"/>
                </a:solidFill>
              </a:rPr>
              <a:t>hecho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dirty="0" err="1">
                <a:solidFill>
                  <a:srgbClr val="D5DDE8"/>
                </a:solidFill>
              </a:rPr>
              <a:t>progreso</a:t>
            </a:r>
            <a:r>
              <a:rPr lang="en-US" sz="1000" dirty="0">
                <a:solidFill>
                  <a:srgbClr val="D5DDE8"/>
                </a:solidFill>
              </a:rPr>
              <a:t> considerable, </a:t>
            </a:r>
            <a:r>
              <a:rPr lang="en-US" sz="1000" dirty="0" err="1">
                <a:solidFill>
                  <a:srgbClr val="D5DDE8"/>
                </a:solidFill>
              </a:rPr>
              <a:t>súbelo</a:t>
            </a:r>
            <a:r>
              <a:rPr lang="en-US" sz="1000" dirty="0">
                <a:solidFill>
                  <a:srgbClr val="D5DDE8"/>
                </a:solidFill>
              </a:rPr>
              <a:t> a tu rama al servidor (GitHub)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21808" y="3337560"/>
            <a:ext cx="1389888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3337560"/>
            <a:ext cx="138988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03136" y="2651760"/>
            <a:ext cx="64008" cy="731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67144" y="914400"/>
            <a:ext cx="1572768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24928" y="1005840"/>
            <a:ext cx="457200" cy="45720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492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58584" y="15727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20A"/>
                </a:solidFill>
              </a:rPr>
              <a:t>Merge &amp; Pull Request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58584" y="2057400"/>
            <a:ext cx="138988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8"/>
                </a:solidFill>
              </a:rPr>
              <a:t>MILESTONE: </a:t>
            </a:r>
            <a:r>
              <a:rPr lang="en-US" sz="1000" dirty="0" err="1">
                <a:solidFill>
                  <a:srgbClr val="D5DDE8"/>
                </a:solidFill>
              </a:rPr>
              <a:t>Pedimos</a:t>
            </a:r>
            <a:r>
              <a:rPr lang="en-US" sz="1000" dirty="0">
                <a:solidFill>
                  <a:srgbClr val="D5DDE8"/>
                </a:solidFill>
              </a:rPr>
              <a:t> que </a:t>
            </a:r>
            <a:r>
              <a:rPr lang="en-US" sz="1000" dirty="0" err="1">
                <a:solidFill>
                  <a:srgbClr val="D5DDE8"/>
                </a:solidFill>
              </a:rPr>
              <a:t>nuestros</a:t>
            </a:r>
            <a:r>
              <a:rPr lang="en-US" sz="1000" dirty="0">
                <a:solidFill>
                  <a:srgbClr val="D5DDE8"/>
                </a:solidFill>
              </a:rPr>
              <a:t> cambios se integren al </a:t>
            </a:r>
            <a:r>
              <a:rPr lang="en-US" sz="1000" dirty="0" err="1">
                <a:solidFill>
                  <a:srgbClr val="D5DDE8"/>
                </a:solidFill>
              </a:rPr>
              <a:t>proyecto</a:t>
            </a:r>
            <a:r>
              <a:rPr lang="en-US" sz="1000" dirty="0">
                <a:solidFill>
                  <a:srgbClr val="D5DDE8"/>
                </a:solidFill>
              </a:rPr>
              <a:t> </a:t>
            </a:r>
            <a:r>
              <a:rPr lang="en-US" sz="1000" u="sng" dirty="0">
                <a:solidFill>
                  <a:srgbClr val="D5DDE8"/>
                </a:solidFill>
              </a:rPr>
              <a:t>principal.</a:t>
            </a:r>
          </a:p>
          <a:p>
            <a:pPr marL="0" indent="0" algn="ctr">
              <a:buNone/>
            </a:pPr>
            <a:r>
              <a:rPr lang="en-US" sz="1000" b="1" dirty="0" err="1">
                <a:solidFill>
                  <a:srgbClr val="D5DDE8"/>
                </a:solidFill>
              </a:rPr>
              <a:t>Interviene</a:t>
            </a:r>
            <a:r>
              <a:rPr lang="en-US" sz="1000" b="1" dirty="0">
                <a:solidFill>
                  <a:srgbClr val="D5DDE8"/>
                </a:solidFill>
              </a:rPr>
              <a:t> </a:t>
            </a:r>
            <a:r>
              <a:rPr lang="en-US" sz="1000" b="1" dirty="0" err="1">
                <a:solidFill>
                  <a:srgbClr val="D5DDE8"/>
                </a:solidFill>
              </a:rPr>
              <a:t>el</a:t>
            </a:r>
            <a:r>
              <a:rPr lang="en-US" sz="1000" b="1" dirty="0">
                <a:solidFill>
                  <a:srgbClr val="D5DDE8"/>
                </a:solidFill>
              </a:rPr>
              <a:t> </a:t>
            </a:r>
            <a:r>
              <a:rPr lang="en-US" sz="1000" b="1" dirty="0" err="1">
                <a:solidFill>
                  <a:srgbClr val="D5DDE8"/>
                </a:solidFill>
              </a:rPr>
              <a:t>jefecito</a:t>
            </a:r>
            <a:r>
              <a:rPr lang="en-US" sz="1000" b="1" dirty="0">
                <a:solidFill>
                  <a:srgbClr val="D5DDE8"/>
                </a:solidFill>
              </a:rPr>
              <a:t>  de  Proyecto </a:t>
            </a:r>
            <a:r>
              <a:rPr lang="en-US" sz="1000" b="1" dirty="0" err="1">
                <a:solidFill>
                  <a:srgbClr val="D5DDE8"/>
                </a:solidFill>
              </a:rPr>
              <a:t>si</a:t>
            </a:r>
            <a:r>
              <a:rPr lang="en-US" sz="1000" b="1" dirty="0">
                <a:solidFill>
                  <a:srgbClr val="D5DDE8"/>
                </a:solidFill>
              </a:rPr>
              <a:t> hay </a:t>
            </a:r>
            <a:r>
              <a:rPr lang="en-US" sz="1000" b="1" dirty="0" err="1">
                <a:solidFill>
                  <a:srgbClr val="D5DDE8"/>
                </a:solidFill>
              </a:rPr>
              <a:t>conflictos</a:t>
            </a:r>
            <a:r>
              <a:rPr lang="en-US" sz="1000" b="1" dirty="0">
                <a:solidFill>
                  <a:srgbClr val="D5DDE8"/>
                </a:solidFill>
              </a:rPr>
              <a:t>.</a:t>
            </a:r>
            <a:endParaRPr lang="en-US" sz="1000" b="1" dirty="0"/>
          </a:p>
        </p:txBody>
      </p:sp>
      <p:sp>
        <p:nvSpPr>
          <p:cNvPr id="41" name="Shape 39"/>
          <p:cNvSpPr/>
          <p:nvPr/>
        </p:nvSpPr>
        <p:spPr>
          <a:xfrm>
            <a:off x="6958584" y="3337560"/>
            <a:ext cx="1389888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3337560"/>
            <a:ext cx="138988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GitHub.com → New PR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¿Por qué debería importarme?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24912" cy="731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80160"/>
            <a:ext cx="310896" cy="310896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234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Nunca mas perdes trabajo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25420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Cada cambio queda registrado. Si algo se rompe, podes volver atras en segundos.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2112" y="109728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097280"/>
            <a:ext cx="2724912" cy="731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280160"/>
            <a:ext cx="310896" cy="310896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234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Colaborar sin pisar el trabajo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3552" y="1755648"/>
            <a:ext cx="25420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Las ramas permiten que 5 personas modifiquen el mismo proyecto simultaneamente sin conflictos.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9904" y="109728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097280"/>
            <a:ext cx="2724912" cy="731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1280160"/>
            <a:ext cx="310896" cy="310896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65392" y="1234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Transparencia total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1755648"/>
            <a:ext cx="25420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Quien cambio que, cuando y por que. El historial es el acta de reunion que nadie tiene que escribir.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71800"/>
            <a:ext cx="2724912" cy="731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154680"/>
            <a:ext cx="310896" cy="310896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31089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Estandar de la industria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630168"/>
            <a:ext cx="25420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95% de los proyectos de software del mundo usan Git. Aprenderlo hoy abre puertas manana.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82112" y="297180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2971800"/>
            <a:ext cx="2724912" cy="731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154680"/>
            <a:ext cx="310896" cy="310896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31089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Code review y calidad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73552" y="3630168"/>
            <a:ext cx="25420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Los Pull Requests permiten revisar cambios antes de integrarlos. El equipo aprende mirando el trabajo ajeno.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9904" y="297180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2971800"/>
            <a:ext cx="2724912" cy="731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9632" y="3154680"/>
            <a:ext cx="310896" cy="310896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65392" y="31089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Deployment automatico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81344" y="3630168"/>
            <a:ext cx="25420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GitHub se conecta con servidores: cada push puede disparar un despliegue automatico a produccion.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Paso 1: Crea tu cuenta en GitHub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949440" y="228600"/>
            <a:ext cx="2011680" cy="457200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github.com/signup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B0"/>
                </a:solidFill>
              </a:rPr>
              <a:t>Gratis. Sin tarjeta de credito. Tarda menos de 2 minutos.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508760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40817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Ingresa a github.com y clic en "Sign up"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700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</a:rPr>
              <a:t>El boton verde grande en la esquina superior derecha de la pantalla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0" y="1444752"/>
            <a:ext cx="292608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4447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github.com/signup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75688"/>
            <a:ext cx="8595360" cy="64008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231136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1305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Ingresa tu email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423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</a:rPr>
              <a:t>Usa el email de trabajo o personal. Lo necesitaras para verificar la cuenta.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60720" y="2167128"/>
            <a:ext cx="292608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167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tu@email.com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98064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2953512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5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2852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Crea una contrasena y elige tu username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31455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</a:rPr>
              <a:t>El username es tu identidad publica en GitHub (ej: juan-garcia). Aparecera en tus repos.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2889504"/>
            <a:ext cx="292608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889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unico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520440"/>
            <a:ext cx="8595360" cy="64008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675888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35753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Verifica que no </a:t>
            </a:r>
            <a:r>
              <a:rPr lang="en-US" sz="1200" b="1" dirty="0" err="1">
                <a:solidFill>
                  <a:srgbClr val="0D1B2A"/>
                </a:solidFill>
              </a:rPr>
              <a:t>eres</a:t>
            </a:r>
            <a:r>
              <a:rPr lang="en-US" sz="1200" b="1" dirty="0">
                <a:solidFill>
                  <a:srgbClr val="0D1B2A"/>
                </a:solidFill>
              </a:rPr>
              <a:t> un robot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3867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</a:rPr>
              <a:t>Resuelve el captcha visual que aparece en pantalla.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0" y="3611880"/>
            <a:ext cx="292608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 en la imagen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242816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4048" y="4398264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" y="42976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Revisa tu email y clic en el link de verificacion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" y="4590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</a:rPr>
              <a:t>GitHub envia un codigo de 6 digitos. Ingresalo en la pantalla. Listo — cuenta creada.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60720" y="4334256"/>
            <a:ext cx="292608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4334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 en tu email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Paso 2: Crea tu primer repositorio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B0"/>
                </a:solidFill>
              </a:rPr>
              <a:t>Un repositorio es tu proyecto. Vamos a crear uno desde GitHub.com.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512064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80160"/>
            <a:ext cx="320040" cy="32004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115568"/>
            <a:ext cx="45262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Clic en el "+" arriba a la derecha → "New repository"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512064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029968"/>
            <a:ext cx="320040" cy="32004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865376"/>
            <a:ext cx="45262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Dale un nombre al repo (ej: "mi-primer-repo"). Sin espacios.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512064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779776"/>
            <a:ext cx="320040" cy="32004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79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2615184"/>
            <a:ext cx="45262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Marcalo como "Public" para que todos lo puedan ver.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64992"/>
            <a:ext cx="512064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529584"/>
            <a:ext cx="320040" cy="32004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529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364992"/>
            <a:ext cx="45262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Tilda "Add a README file" — esto inicializa el repo con un archivo.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512064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4279392"/>
            <a:ext cx="320040" cy="320040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279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4114800"/>
            <a:ext cx="45262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Clic en el boton verde "Create repository". Listo.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23560" y="1051560"/>
            <a:ext cx="32461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23560" y="1051560"/>
            <a:ext cx="32461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 / new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0" y="1508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Repository name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0720" y="1783080"/>
            <a:ext cx="292608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1783080"/>
            <a:ext cx="292608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mi-primer-repo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60720" y="2331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Visibility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2606040"/>
            <a:ext cx="292608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606040"/>
            <a:ext cx="292608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 (seleccionado)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760720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Initialize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60720" y="3200400"/>
            <a:ext cx="292608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README file  [x]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60720" y="4160520"/>
            <a:ext cx="2926080" cy="38404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repository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Paso 3: Instala Git en tu computadora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</a:rPr>
              <a:t>Para controlar GitHub desde la terminal necesitas Git instalado localmente.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25880"/>
            <a:ext cx="283464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325880"/>
            <a:ext cx="475488" cy="5303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2588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WIN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3258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Windows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2651760" cy="29260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20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git-scm.com/download/win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" y="2340864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2340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85216" y="230428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Entra a git-scm.com/download/win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" y="2688336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85216" y="26517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Se descarga automaticamente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" y="3035808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85216" y="299923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Ejecuta el instalador (.exe)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" y="3383280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85216" y="334670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Dejalo todo por defecto → "Next"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" y="3730752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85216" y="369417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Abre "Git Bash" desde el menu inicio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" y="4078224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6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85216" y="404164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Escribe: git --version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4599432"/>
            <a:ext cx="2834640" cy="24688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59943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9A94B"/>
                </a:solidFill>
              </a:rPr>
              <a:t>Tip: usa Git Bash, no CMD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132588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1325880"/>
            <a:ext cx="283464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1325880"/>
            <a:ext cx="475488" cy="5303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132588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MAC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49040" y="13258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Mac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337560" y="1920240"/>
            <a:ext cx="2651760" cy="29260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920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git-scm.com/download/mac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55848" y="2340864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2340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602736" y="230428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Abre la app Terminal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55848" y="2688336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55848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2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602736" y="26517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Escribe: git --version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55848" y="3035808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55848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3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602736" y="299923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Mac te va a preguntar si instalar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55848" y="3383280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55848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4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602736" y="334670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Clic en "Install" y espera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55848" y="3730752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55848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5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602736" y="369417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Listo — Git ya esta disponible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55848" y="4078224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55848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6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602736" y="404164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Vuelve a escribir: git --version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46120" y="4599432"/>
            <a:ext cx="2834640" cy="24688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46120" y="459943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9A94B"/>
                </a:solidFill>
              </a:rPr>
              <a:t>En Mac generalmente ya viene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63640" y="132588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263640" y="1325880"/>
            <a:ext cx="283464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63640" y="1325880"/>
            <a:ext cx="475488" cy="53035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3640" y="132588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LNX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766560" y="13258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Linux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6355080" y="1920240"/>
            <a:ext cx="2651760" cy="29260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1920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/ yum / pacman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373368" y="2340864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73368" y="2340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1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620256" y="230428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Abre una terminal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373368" y="2688336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73368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2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620256" y="26517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Ubuntu/Debian: sudo apt install git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373368" y="3035808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73368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3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620256" y="299923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Fedora: sudo dnf install git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373368" y="3383280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73368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4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620256" y="334670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Arch: sudo pacman -S git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373368" y="3730752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73368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5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620256" y="369417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Confirma con tu contrasena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373368" y="4078224"/>
            <a:ext cx="201168" cy="2011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73368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6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6620256" y="404164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45"/>
                </a:solidFill>
              </a:rPr>
              <a:t>Verifica: git --version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263640" y="4599432"/>
            <a:ext cx="2834640" cy="24688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63640" y="459943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9A94B"/>
                </a:solidFill>
              </a:rPr>
              <a:t>Suele estar preinstalado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28600" y="4892040"/>
            <a:ext cx="868680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28600" y="4892040"/>
            <a:ext cx="8686800" cy="2468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verificar que todo funciona, escribe en tu terminal:   git --version   →  deberias ver algo como:  git version 2.x.x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Ejercicio 1/5: Setup — Terminal y configuracion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09560" y="228600"/>
            <a:ext cx="1097280" cy="457200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56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SETUP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</a:rPr>
              <a:t>Primero verificamos que Git esta listo y le decimos quien sos.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600200" cy="29260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 Setup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2 Clone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075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3 Branch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6811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4 Commit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0547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5 Merge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1691640"/>
            <a:ext cx="4846320" cy="987552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" y="2020824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020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" y="1691640"/>
            <a:ext cx="4160520" cy="513527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Abre la terminal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" y="2205167"/>
            <a:ext cx="4160520" cy="474025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Windows: busca Git Bash en el menu inicio.  Mac/Linux: abre Terminal.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2788920"/>
            <a:ext cx="4846320" cy="987552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" y="3118104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" y="2788920"/>
            <a:ext cx="4160520" cy="513527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Verifica la version de Git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" y="3302447"/>
            <a:ext cx="4160520" cy="474025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Escribe git --version y presiona Enter. Debes ver un numero de version.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886200"/>
            <a:ext cx="4846320" cy="987552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" y="4215384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" y="3886200"/>
            <a:ext cx="4160520" cy="513527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Configurate (solo la primera vez)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" y="4399727"/>
            <a:ext cx="4160520" cy="474025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Ingresa tu nombre y el email con el que te registraste en GitHub</a:t>
            </a:r>
            <a:r>
              <a:rPr lang="en-US" sz="950" dirty="0">
                <a:solidFill>
                  <a:srgbClr val="8A9BB0"/>
                </a:solidFill>
              </a:rPr>
              <a:t>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57800" y="1691640"/>
            <a:ext cx="3630168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57800" y="1691640"/>
            <a:ext cx="3630168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94960" y="17739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59552" y="17739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24144" y="17739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1691640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22392" y="203911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22392" y="235000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version 2.43.0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22392" y="266090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22392" y="297180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"Tu Nombre"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22392" y="328269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(sin salida = todo bien)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22392" y="359359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"tu@email.com"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22392" y="390448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22392" y="421538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--list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22392" y="452628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user.name=Tu Nombre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22392" y="483717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user.email=tu@email.com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Ejercicio 2/5: Token de acceso + Clone del repo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09560" y="228600"/>
            <a:ext cx="1097280" cy="457200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56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CLONE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</a:rPr>
              <a:t>Antes de poder subir cambios, GitHub necesita verificar tu identidad.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1 Setup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1261872"/>
            <a:ext cx="1600200" cy="29260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 Clone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3075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3 Branch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6811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4 Commit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0547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5 Merge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1664208"/>
            <a:ext cx="4389120" cy="310896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664208"/>
            <a:ext cx="4389120" cy="31089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20A"/>
                </a:solidFill>
              </a:rPr>
              <a:t>A)  </a:t>
            </a:r>
            <a:r>
              <a:rPr lang="en-US" sz="1400" b="1" u="sng" dirty="0">
                <a:solidFill>
                  <a:srgbClr val="F4820A"/>
                </a:solidFill>
              </a:rPr>
              <a:t>OPCIONAL: </a:t>
            </a:r>
            <a:r>
              <a:rPr lang="en-US" sz="1400" b="1" dirty="0">
                <a:solidFill>
                  <a:srgbClr val="F4820A"/>
                </a:solidFill>
              </a:rPr>
              <a:t>Genera tu Personal Access Token (PAT)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6032" y="2029968"/>
            <a:ext cx="4389120" cy="393192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" y="2103120"/>
            <a:ext cx="246888" cy="246888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103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2029968"/>
            <a:ext cx="393192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GitHub.com → foto de perfil → Settings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" y="2468880"/>
            <a:ext cx="4389120" cy="393192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" y="2542032"/>
            <a:ext cx="246888" cy="246888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5420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2468880"/>
            <a:ext cx="393192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Menu izquierdo → Developer settings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2907792"/>
            <a:ext cx="4389120" cy="393192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2980944"/>
            <a:ext cx="246888" cy="246888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298094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" y="2907792"/>
            <a:ext cx="393192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Personal access tokens → Tokens (classic)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346704"/>
            <a:ext cx="4389120" cy="393192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" y="3419856"/>
            <a:ext cx="246888" cy="246888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34198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3346704"/>
            <a:ext cx="393192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Generate new token → nombre: clase, 7 dias, scope: repo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3785616"/>
            <a:ext cx="4389120" cy="393192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" y="3858768"/>
            <a:ext cx="246888" cy="246888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38587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" y="3785616"/>
            <a:ext cx="393192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Generate token → COPIA el token (ghp_...)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4251960"/>
            <a:ext cx="43891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" y="4251960"/>
            <a:ext cx="457200" cy="502920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4251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!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9808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3E00"/>
                </a:solidFill>
              </a:rPr>
              <a:t>Copia el token ahora — GitHub solo lo muestra una vez. Pegalo en Notas.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28032" y="1664208"/>
            <a:ext cx="4069080" cy="310896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1664208"/>
            <a:ext cx="4069080" cy="31089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20A"/>
                </a:solidFill>
              </a:rPr>
              <a:t>B) Clona el repositorio de la clase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28032" y="2029968"/>
            <a:ext cx="406908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828032" y="2029968"/>
            <a:ext cx="40690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65192" y="2112264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9784" y="211226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94376" y="211226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68112" y="20299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92624" y="2377440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</a:rPr>
              <a:t>.com/jqvargas/Clase_CCGUC.git</a:t>
            </a:r>
          </a:p>
        </p:txBody>
      </p:sp>
      <p:sp>
        <p:nvSpPr>
          <p:cNvPr id="53" name="Text 51"/>
          <p:cNvSpPr/>
          <p:nvPr/>
        </p:nvSpPr>
        <p:spPr>
          <a:xfrm>
            <a:off x="4992624" y="26883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56048" y="266705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Cloning into 'Clase_CCGUC'...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65192" y="2926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992624" y="36210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965828" y="3227711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Clase_CCGUC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992624" y="42428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965192" y="35295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965828" y="388801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.../jqvargas/Clase_CCGUC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Ejercicio 3/5: Crea tu rama y edita el archivo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09560" y="228600"/>
            <a:ext cx="1097280" cy="457200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56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BRANCH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</a:rPr>
              <a:t>Nunca trabajamos directo en main. Cada persona tiene su propia rama.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1 Setup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2 Clone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0752" y="1261872"/>
            <a:ext cx="1600200" cy="29260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 Branch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6811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4 Commit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0547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5 Merge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1664208"/>
            <a:ext cx="4572000" cy="74980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" y="1874520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" y="1664208"/>
            <a:ext cx="3886200" cy="389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 tu rama con tu nombre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" y="1956816"/>
            <a:ext cx="3995928" cy="3599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Reemplaza nombre-apellido con el tuyo real. Ej: git checkout -b juan-garcia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2487168"/>
            <a:ext cx="4572000" cy="7498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" y="2697480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" y="2487168"/>
            <a:ext cx="3886200" cy="389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Confirma en que rama estas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" y="2803916"/>
            <a:ext cx="3886200" cy="3599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git branch muestra todas las ramas. La activa tiene un asterisco (*).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310128"/>
            <a:ext cx="4572000" cy="74980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" y="3520440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" y="3310128"/>
            <a:ext cx="3886200" cy="389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Abre y edita participantes.md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" y="3626915"/>
            <a:ext cx="3886200" cy="3599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Usa cualquier editor de texto (Notepad, VS Code, nano). Agrega una linea nueva con tu nombre.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4133088"/>
            <a:ext cx="4572000" cy="7498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192" y="4343400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" y="4133088"/>
            <a:ext cx="3886200" cy="389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Verifica el estado del archivo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2104" y="4413260"/>
            <a:ext cx="3886200" cy="3599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git status te muestra que archivos cambiaron y estan listos para commit.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1664208"/>
            <a:ext cx="3913632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83480" y="1664208"/>
            <a:ext cx="3913632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1746504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85232" y="174650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49824" y="174650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166420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48072" y="20116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</a:t>
            </a:r>
            <a:r>
              <a:rPr lang="en-US" sz="10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nombre-apellido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(branch name!)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48072" y="232257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a new branch 'nombre-apellido'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48072" y="26334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48072" y="294436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48072" y="32552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nombre-apellido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48072" y="35661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48072" y="38770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48072" y="418795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edita participantes.md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48072" y="449884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agrega: - Tu Nombre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48072" y="480974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148072" y="51206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48072" y="5431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modified: participantes.md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Ejercicio 4/5: Commit, Push y Pull Request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09560" y="228600"/>
            <a:ext cx="1097280" cy="457200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56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COMMIT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</a:rPr>
              <a:t>Guardas tu cambio, lo subes a GitHub y pides que lo integren.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1 Setup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2 Clone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075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3 Branch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68112" y="1261872"/>
            <a:ext cx="1600200" cy="29260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 Commit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05472" y="1261872"/>
            <a:ext cx="1600200" cy="29260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5 Merge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1664208"/>
            <a:ext cx="4572000" cy="987552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" y="1993392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" y="1664208"/>
            <a:ext cx="3886200" cy="513527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Prepara y commitea los cambios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" y="2090501"/>
            <a:ext cx="3886200" cy="474025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git add . agrega todo lo modificado. git commit -m guarda el punto con un mensaje descriptivo.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2761488"/>
            <a:ext cx="4572000" cy="987552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" y="3090672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" y="2732593"/>
            <a:ext cx="3886200" cy="513527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b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Solicita</a:t>
            </a:r>
            <a:r>
              <a:rPr lang="en-US" sz="1200" b="1" dirty="0">
                <a:solidFill>
                  <a:srgbClr val="FFFFFF"/>
                </a:solidFill>
              </a:rPr>
              <a:t> al </a:t>
            </a:r>
            <a:r>
              <a:rPr lang="en-US" sz="1200" b="1" dirty="0" err="1">
                <a:solidFill>
                  <a:srgbClr val="FFFFFF"/>
                </a:solidFill>
              </a:rPr>
              <a:t>profe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permiso</a:t>
            </a:r>
            <a:r>
              <a:rPr lang="en-US" sz="1200" b="1" dirty="0">
                <a:solidFill>
                  <a:srgbClr val="FFFFFF"/>
                </a:solidFill>
              </a:rPr>
              <a:t> para </a:t>
            </a:r>
            <a:r>
              <a:rPr lang="en-US" sz="1200" b="1" dirty="0" err="1">
                <a:solidFill>
                  <a:srgbClr val="FFFFFF"/>
                </a:solidFill>
              </a:rPr>
              <a:t>pushear</a:t>
            </a:r>
            <a:r>
              <a:rPr lang="en-US" sz="1200" b="1" dirty="0">
                <a:solidFill>
                  <a:srgbClr val="FFFFFF"/>
                </a:solidFill>
              </a:rPr>
              <a:t> (dale </a:t>
            </a:r>
            <a:r>
              <a:rPr lang="en-US" sz="1200" b="1" dirty="0" err="1">
                <a:solidFill>
                  <a:srgbClr val="FFFFFF"/>
                </a:solidFill>
              </a:rPr>
              <a:t>tu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usuario</a:t>
            </a:r>
            <a:r>
              <a:rPr lang="en-US" sz="1200" b="1" dirty="0">
                <a:solidFill>
                  <a:srgbClr val="FFFFFF"/>
                </a:solidFill>
              </a:rPr>
              <a:t>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" y="3155411"/>
            <a:ext cx="4014216" cy="474025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</a:rPr>
              <a:t>Ingresa</a:t>
            </a:r>
            <a:r>
              <a:rPr lang="en-US" sz="1100" dirty="0">
                <a:solidFill>
                  <a:schemeClr val="bg1"/>
                </a:solidFill>
              </a:rPr>
              <a:t> a </a:t>
            </a:r>
          </a:p>
          <a:p>
            <a:pPr marL="0" indent="0">
              <a:buNone/>
            </a:pPr>
            <a:r>
              <a:rPr lang="en-US" sz="1100" u="sng" dirty="0">
                <a:solidFill>
                  <a:schemeClr val="bg1"/>
                </a:solidFill>
              </a:rPr>
              <a:t>github.com/</a:t>
            </a:r>
            <a:r>
              <a:rPr lang="en-US" sz="1100" u="sng" dirty="0" err="1">
                <a:solidFill>
                  <a:schemeClr val="bg1"/>
                </a:solidFill>
              </a:rPr>
              <a:t>jqvargas</a:t>
            </a:r>
            <a:r>
              <a:rPr lang="en-US" sz="1100" u="sng" dirty="0">
                <a:solidFill>
                  <a:schemeClr val="bg1"/>
                </a:solidFill>
              </a:rPr>
              <a:t>/</a:t>
            </a:r>
            <a:r>
              <a:rPr lang="en-US" sz="1100" u="sng" dirty="0" err="1">
                <a:solidFill>
                  <a:schemeClr val="bg1"/>
                </a:solidFill>
              </a:rPr>
              <a:t>Clase_CCGUC</a:t>
            </a:r>
            <a:r>
              <a:rPr lang="en-US" sz="1100" u="sng" dirty="0">
                <a:solidFill>
                  <a:schemeClr val="bg1"/>
                </a:solidFill>
              </a:rPr>
              <a:t>/invitations 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y </a:t>
            </a:r>
            <a:r>
              <a:rPr lang="en-US" sz="1100" dirty="0" err="1">
                <a:solidFill>
                  <a:schemeClr val="bg1"/>
                </a:solidFill>
              </a:rPr>
              <a:t>acepta</a:t>
            </a:r>
            <a:r>
              <a:rPr lang="en-US" sz="1100" dirty="0">
                <a:solidFill>
                  <a:schemeClr val="bg1"/>
                </a:solidFill>
              </a:rPr>
              <a:t> la </a:t>
            </a:r>
            <a:r>
              <a:rPr lang="en-US" sz="1100" dirty="0" err="1">
                <a:solidFill>
                  <a:schemeClr val="bg1"/>
                </a:solidFill>
              </a:rPr>
              <a:t>invitación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56032" y="3858768"/>
            <a:ext cx="4572000" cy="987552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" y="4187952"/>
            <a:ext cx="329184" cy="32918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" y="3858768"/>
            <a:ext cx="3886200" cy="513527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b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Sube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tu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rama</a:t>
            </a:r>
            <a:r>
              <a:rPr lang="en-US" sz="1200" b="1" dirty="0">
                <a:solidFill>
                  <a:srgbClr val="FFFFFF"/>
                </a:solidFill>
              </a:rPr>
              <a:t> a GitHub (push origin branch)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" y="4343400"/>
            <a:ext cx="3886200" cy="474025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8A9BB0"/>
                </a:solidFill>
              </a:rPr>
              <a:t>Acá</a:t>
            </a:r>
            <a:r>
              <a:rPr lang="en-US" sz="1100" dirty="0">
                <a:solidFill>
                  <a:srgbClr val="8A9BB0"/>
                </a:solidFill>
              </a:rPr>
              <a:t> te </a:t>
            </a:r>
            <a:r>
              <a:rPr lang="en-US" sz="1100" dirty="0" err="1">
                <a:solidFill>
                  <a:srgbClr val="8A9BB0"/>
                </a:solidFill>
              </a:rPr>
              <a:t>va</a:t>
            </a:r>
            <a:r>
              <a:rPr lang="en-US" sz="1100" dirty="0">
                <a:solidFill>
                  <a:srgbClr val="8A9BB0"/>
                </a:solidFill>
              </a:rPr>
              <a:t> a </a:t>
            </a:r>
            <a:r>
              <a:rPr lang="en-US" sz="1100" dirty="0" err="1">
                <a:solidFill>
                  <a:srgbClr val="8A9BB0"/>
                </a:solidFill>
              </a:rPr>
              <a:t>pedir</a:t>
            </a:r>
            <a:r>
              <a:rPr lang="en-US" sz="1100" dirty="0">
                <a:solidFill>
                  <a:srgbClr val="8A9BB0"/>
                </a:solidFill>
              </a:rPr>
              <a:t> </a:t>
            </a:r>
            <a:r>
              <a:rPr lang="en-US" sz="1100" dirty="0" err="1">
                <a:solidFill>
                  <a:srgbClr val="8A9BB0"/>
                </a:solidFill>
              </a:rPr>
              <a:t>logearte</a:t>
            </a:r>
            <a:r>
              <a:rPr lang="en-US" sz="1100" dirty="0">
                <a:solidFill>
                  <a:srgbClr val="8A9BB0"/>
                </a:solidFill>
              </a:rPr>
              <a:t>. Lo </a:t>
            </a:r>
            <a:r>
              <a:rPr lang="en-US" sz="1100" dirty="0" err="1">
                <a:solidFill>
                  <a:srgbClr val="8A9BB0"/>
                </a:solidFill>
              </a:rPr>
              <a:t>más</a:t>
            </a:r>
            <a:r>
              <a:rPr lang="en-US" sz="1100" dirty="0">
                <a:solidFill>
                  <a:srgbClr val="8A9BB0"/>
                </a:solidFill>
              </a:rPr>
              <a:t> </a:t>
            </a:r>
            <a:r>
              <a:rPr lang="en-US" sz="1100" dirty="0" err="1">
                <a:solidFill>
                  <a:srgbClr val="8A9BB0"/>
                </a:solidFill>
              </a:rPr>
              <a:t>fácil</a:t>
            </a:r>
            <a:r>
              <a:rPr lang="en-US" sz="1100" dirty="0">
                <a:solidFill>
                  <a:srgbClr val="8A9BB0"/>
                </a:solidFill>
              </a:rPr>
              <a:t> es </a:t>
            </a:r>
            <a:r>
              <a:rPr lang="en-US" sz="1100" dirty="0" err="1">
                <a:solidFill>
                  <a:srgbClr val="8A9BB0"/>
                </a:solidFill>
              </a:rPr>
              <a:t>utilizar</a:t>
            </a:r>
            <a:r>
              <a:rPr lang="en-US" sz="1100" dirty="0">
                <a:solidFill>
                  <a:srgbClr val="8A9BB0"/>
                </a:solidFill>
              </a:rPr>
              <a:t> la </a:t>
            </a:r>
            <a:r>
              <a:rPr lang="en-US" sz="1100" dirty="0" err="1">
                <a:solidFill>
                  <a:srgbClr val="8A9BB0"/>
                </a:solidFill>
              </a:rPr>
              <a:t>opción</a:t>
            </a:r>
            <a:r>
              <a:rPr lang="en-US" sz="1100" dirty="0">
                <a:solidFill>
                  <a:srgbClr val="8A9BB0"/>
                </a:solidFill>
              </a:rPr>
              <a:t> con </a:t>
            </a:r>
            <a:r>
              <a:rPr lang="en-US" sz="1100" dirty="0" err="1">
                <a:solidFill>
                  <a:srgbClr val="8A9BB0"/>
                </a:solidFill>
              </a:rPr>
              <a:t>el</a:t>
            </a:r>
            <a:r>
              <a:rPr lang="en-US" sz="1100" dirty="0">
                <a:solidFill>
                  <a:srgbClr val="8A9BB0"/>
                </a:solidFill>
              </a:rPr>
              <a:t> web browser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1664208"/>
            <a:ext cx="3913632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1664208"/>
            <a:ext cx="3913632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1746504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85232" y="174650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9824" y="174650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166420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48072" y="20116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48072" y="232257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48072" y="26334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"Agrego: Tu Nombre"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48072" y="294436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[nombre-apellido 4c2e1a] Agrego: Tu Nombre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48072" y="32552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148072" y="35661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</a:t>
            </a:r>
            <a:r>
              <a:rPr lang="en-US" sz="10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nombre-apellido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(branch name!)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48072" y="38770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tu-usuario-github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48072" y="418795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ghp_XXXX  &lt;- TOKEN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83480" y="4343400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KEY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Ejercicio 5/5: El instructor mergea tu PR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09560" y="228600"/>
            <a:ext cx="1097280" cy="457200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56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MERGE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</a:rPr>
              <a:t>El instructor aprueba los cambios en vivo — veras tu nombre en main.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600200" cy="29260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1 Setup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1261872"/>
            <a:ext cx="1600200" cy="29260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2 Clone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0752" y="1261872"/>
            <a:ext cx="1600200" cy="29260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3 Branch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68112" y="1261872"/>
            <a:ext cx="1600200" cy="29260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4 Commit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05472" y="1261872"/>
            <a:ext cx="1600200" cy="29260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1261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 Merge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" y="1664208"/>
            <a:ext cx="4480560" cy="310896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664208"/>
            <a:ext cx="4480560" cy="31089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20A"/>
                </a:solidFill>
              </a:rPr>
              <a:t>El instructor hace (en GitHub.com):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029968"/>
            <a:ext cx="4480560" cy="42976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" y="2112264"/>
            <a:ext cx="256032" cy="256032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2029968"/>
            <a:ext cx="402336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Abre el repositorio Clase_CCGUC en GitHub.com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2505456"/>
            <a:ext cx="4480560" cy="42976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" y="2587752"/>
            <a:ext cx="256032" cy="256032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2505456"/>
            <a:ext cx="402336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Va a la pestana Pull requests → abre tu PR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2980944"/>
            <a:ext cx="4480560" cy="42976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3063240"/>
            <a:ext cx="256032" cy="256032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" y="2980944"/>
            <a:ext cx="402336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Revisa los cambios en la pestana Files changed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456432"/>
            <a:ext cx="4480560" cy="429768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" y="3538728"/>
            <a:ext cx="256032" cy="256032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3456432"/>
            <a:ext cx="402336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Clic en Merge pull request → Confirm merge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3931920"/>
            <a:ext cx="4480560" cy="429768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" y="4014216"/>
            <a:ext cx="256032" cy="256032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" y="3931920"/>
            <a:ext cx="402336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Tu rama queda fusionada con main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1664208"/>
            <a:ext cx="4005072" cy="310896"/>
          </a:xfrm>
          <a:prstGeom prst="rect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1664208"/>
            <a:ext cx="4005072" cy="31089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20A"/>
                </a:solidFill>
              </a:rPr>
              <a:t>Vos: actualiza tu copia local con el merge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2029968"/>
            <a:ext cx="4005072" cy="23042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92040" y="2029968"/>
            <a:ext cx="4005072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2112264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93792" y="211226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58384" y="211226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20299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56632" y="23774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56632" y="268833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branch 'main'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56632" y="29992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56632" y="33101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56632" y="362102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Updating 9a3f..4c2e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056632" y="393192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participantes.md | 1 +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56632" y="424281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56632" y="45537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participantes.md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56632" y="48646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Tu Nombre  &lt;- ya esta en main!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6032" y="4462272"/>
            <a:ext cx="8641080" cy="502920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" y="4462272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Tu cambio ya esta en main. Eso es exactamente como funciona GitHub en un equipo real.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Cheatsheet — Los comandos del día a día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09728" cy="6583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78992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399032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Descargar un repositorio a tu PC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01368"/>
            <a:ext cx="109728" cy="6583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28800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148840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Ver a </a:t>
            </a:r>
            <a:r>
              <a:rPr lang="en-US" sz="1000" dirty="0" err="1">
                <a:solidFill>
                  <a:srgbClr val="8A9BB0"/>
                </a:solidFill>
              </a:rPr>
              <a:t>qué</a:t>
            </a:r>
            <a:r>
              <a:rPr lang="en-US" sz="1000" dirty="0">
                <a:solidFill>
                  <a:srgbClr val="8A9BB0"/>
                </a:solidFill>
              </a:rPr>
              <a:t> </a:t>
            </a:r>
            <a:r>
              <a:rPr lang="en-US" sz="1000" dirty="0" err="1">
                <a:solidFill>
                  <a:srgbClr val="8A9BB0"/>
                </a:solidFill>
              </a:rPr>
              <a:t>repositorio</a:t>
            </a:r>
            <a:r>
              <a:rPr lang="en-US" sz="1000" dirty="0">
                <a:solidFill>
                  <a:srgbClr val="8A9BB0"/>
                </a:solidFill>
              </a:rPr>
              <a:t> </a:t>
            </a:r>
            <a:r>
              <a:rPr lang="en-US" sz="1000" dirty="0" err="1">
                <a:solidFill>
                  <a:srgbClr val="8A9BB0"/>
                </a:solidFill>
              </a:rPr>
              <a:t>estamos</a:t>
            </a:r>
            <a:r>
              <a:rPr lang="en-US" sz="1000" dirty="0">
                <a:solidFill>
                  <a:srgbClr val="8A9BB0"/>
                </a:solidFill>
              </a:rPr>
              <a:t> </a:t>
            </a:r>
            <a:r>
              <a:rPr lang="en-US" sz="1000" dirty="0" err="1">
                <a:solidFill>
                  <a:srgbClr val="8A9BB0"/>
                </a:solidFill>
              </a:rPr>
              <a:t>conectados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51176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51176"/>
            <a:ext cx="109728" cy="6583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578608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898648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Preparar todos los cambios para commit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3264408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00984"/>
            <a:ext cx="109728" cy="6583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328416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"mensaje"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3648456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Guardar el punto de control con descripción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050792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050792"/>
            <a:ext cx="109728" cy="6583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078224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4398264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Subir tus commits al servidor (GitHub)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051560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51560"/>
            <a:ext cx="109728" cy="6583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078992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1399032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Traer los últimos cambios del servidor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801368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801368"/>
            <a:ext cx="109728" cy="6583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1828800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&lt;rama&gt;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73752" y="2148840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Crear y cambiar a una nueva rama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551176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551176"/>
            <a:ext cx="109728" cy="6583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578608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73752" y="2898648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A9BB0"/>
                </a:solidFill>
              </a:rPr>
              <a:t>Actualizar</a:t>
            </a:r>
            <a:r>
              <a:rPr lang="en-US" sz="1000" dirty="0">
                <a:solidFill>
                  <a:srgbClr val="8A9BB0"/>
                </a:solidFill>
              </a:rPr>
              <a:t> la version local con la </a:t>
            </a:r>
            <a:r>
              <a:rPr lang="en-US" sz="1000" dirty="0" err="1">
                <a:solidFill>
                  <a:srgbClr val="8A9BB0"/>
                </a:solidFill>
              </a:rPr>
              <a:t>rama</a:t>
            </a:r>
            <a:r>
              <a:rPr lang="en-US" sz="1000" dirty="0">
                <a:solidFill>
                  <a:srgbClr val="8A9BB0"/>
                </a:solidFill>
              </a:rPr>
              <a:t> main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300984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300984"/>
            <a:ext cx="109728" cy="6583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328416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&lt;</a:t>
            </a:r>
            <a:r>
              <a:rPr lang="en-US" sz="1100" b="1" dirty="0" err="1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rama</a:t>
            </a: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73752" y="3648456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A9BB0"/>
                </a:solidFill>
              </a:rPr>
              <a:t>Empujar</a:t>
            </a:r>
            <a:r>
              <a:rPr lang="en-US" sz="1000" dirty="0">
                <a:solidFill>
                  <a:srgbClr val="8A9BB0"/>
                </a:solidFill>
              </a:rPr>
              <a:t> </a:t>
            </a:r>
            <a:r>
              <a:rPr lang="en-US" sz="1000" dirty="0" err="1">
                <a:solidFill>
                  <a:srgbClr val="8A9BB0"/>
                </a:solidFill>
              </a:rPr>
              <a:t>una</a:t>
            </a:r>
            <a:r>
              <a:rPr lang="en-US" sz="1000" dirty="0">
                <a:solidFill>
                  <a:srgbClr val="8A9BB0"/>
                </a:solidFill>
              </a:rPr>
              <a:t> </a:t>
            </a:r>
            <a:r>
              <a:rPr lang="en-US" sz="1000" dirty="0" err="1">
                <a:solidFill>
                  <a:srgbClr val="8A9BB0"/>
                </a:solidFill>
              </a:rPr>
              <a:t>nueva</a:t>
            </a:r>
            <a:r>
              <a:rPr lang="en-US" sz="1000" dirty="0">
                <a:solidFill>
                  <a:srgbClr val="8A9BB0"/>
                </a:solidFill>
              </a:rPr>
              <a:t> </a:t>
            </a:r>
            <a:r>
              <a:rPr lang="en-US" sz="1000" dirty="0" err="1">
                <a:solidFill>
                  <a:srgbClr val="8A9BB0"/>
                </a:solidFill>
              </a:rPr>
              <a:t>rama</a:t>
            </a:r>
            <a:r>
              <a:rPr lang="en-US" sz="1000" dirty="0">
                <a:solidFill>
                  <a:srgbClr val="8A9BB0"/>
                </a:solidFill>
              </a:rPr>
              <a:t> al </a:t>
            </a:r>
            <a:r>
              <a:rPr lang="en-US" sz="1000" dirty="0" err="1">
                <a:solidFill>
                  <a:srgbClr val="8A9BB0"/>
                </a:solidFill>
              </a:rPr>
              <a:t>servidor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4050792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4050792"/>
            <a:ext cx="109728" cy="658368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4078224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user.name / git config </a:t>
            </a:r>
            <a:r>
              <a:rPr lang="en-US" sz="1100" b="1" dirty="0" err="1">
                <a:solidFill>
                  <a:srgbClr val="F9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user.email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73752" y="4398264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Guardar </a:t>
            </a:r>
            <a:r>
              <a:rPr lang="en-US" sz="1000" dirty="0" err="1">
                <a:solidFill>
                  <a:srgbClr val="8A9BB0"/>
                </a:solidFill>
              </a:rPr>
              <a:t>cambios</a:t>
            </a:r>
            <a:r>
              <a:rPr lang="en-US" sz="1000" dirty="0">
                <a:solidFill>
                  <a:srgbClr val="8A9BB0"/>
                </a:solidFill>
              </a:rPr>
              <a:t> de </a:t>
            </a:r>
            <a:r>
              <a:rPr lang="en-US" sz="1000" dirty="0" err="1">
                <a:solidFill>
                  <a:srgbClr val="8A9BB0"/>
                </a:solidFill>
              </a:rPr>
              <a:t>usuario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017520"/>
            <a:ext cx="2743200" cy="2743200"/>
          </a:xfrm>
          <a:prstGeom prst="ellipse">
            <a:avLst/>
          </a:prstGeom>
          <a:solidFill>
            <a:srgbClr val="253E5C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¡Ya sabes usar GitHub!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9BB0"/>
                </a:solidFill>
              </a:rPr>
              <a:t>De aquí en adelante, todo es práctica.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20A"/>
                </a:solidFill>
              </a:rPr>
              <a:t>Seguí aprendiendo: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78608"/>
            <a:ext cx="530352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633472"/>
            <a:ext cx="411480" cy="25603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334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DOC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60120" y="2578608"/>
            <a:ext cx="4800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8"/>
                </a:solidFill>
              </a:rPr>
              <a:t>Documentacion oficial — docs.github.com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27248"/>
            <a:ext cx="530352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3182112"/>
            <a:ext cx="411480" cy="25603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821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GAME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60120" y="3127248"/>
            <a:ext cx="4800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8"/>
                </a:solidFill>
              </a:rPr>
              <a:t>Aprender jugando — learngitbranching.js.org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75888"/>
            <a:ext cx="530352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730752"/>
            <a:ext cx="411480" cy="25603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730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EDU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60120" y="3675888"/>
            <a:ext cx="4800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8"/>
                </a:solidFill>
              </a:rPr>
              <a:t>GitHub Skills (cursos gratis) — skills.github.com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24528"/>
            <a:ext cx="530352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253E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4279392"/>
            <a:ext cx="411480" cy="256032"/>
          </a:xfrm>
          <a:prstGeom prst="rect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2793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AI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60120" y="4224528"/>
            <a:ext cx="4800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8"/>
                </a:solidFill>
              </a:rPr>
              <a:t>GitHub Copilot (IA en tu editor) — github.com/features/copilot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820A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El mejor momento para hacer tu primer commit fue ayer. El segundo mejor momento es ahora. 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2057</Words>
  <Application>Microsoft Office PowerPoint</Application>
  <PresentationFormat>Presentación en pantalla (16:9)</PresentationFormat>
  <Paragraphs>365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para Equipos: Clase Práctica</dc:title>
  <dc:subject>PptxGenJS Presentation</dc:subject>
  <dc:creator>PptxGenJS</dc:creator>
  <cp:lastModifiedBy>Javier Enrique Vargas Ramirez</cp:lastModifiedBy>
  <cp:revision>2</cp:revision>
  <dcterms:created xsi:type="dcterms:W3CDTF">2026-03-06T21:00:24Z</dcterms:created>
  <dcterms:modified xsi:type="dcterms:W3CDTF">2026-03-06T22:42:23Z</dcterms:modified>
</cp:coreProperties>
</file>